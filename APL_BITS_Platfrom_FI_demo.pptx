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b61c81395_2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bb61c81395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b7d57c99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b7d57c99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cf77d4957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cf77d4957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cf77d4957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cf77d4957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cf77d495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cf77d495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b61c81395_2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b61c81395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cf77d4957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cf77d495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d1aa90300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bd1aa90300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d1aa90300_1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bd1aa90300_1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d1aa90300_1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bd1aa90300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be42d5a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bbe42d5a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bcf77d4957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bcf77d4957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CASE_ computer Aided sw engg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白紙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51344" y="176569"/>
            <a:ext cx="788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-6897" y="1259"/>
            <a:ext cx="9144000" cy="514224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type="title"/>
          </p:nvPr>
        </p:nvSpPr>
        <p:spPr>
          <a:xfrm>
            <a:off x="478575" y="97669"/>
            <a:ext cx="72825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Calibri"/>
              <a:buNone/>
              <a:defRPr b="1" sz="27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>
            <a:off x="218567" y="0"/>
            <a:ext cx="198300" cy="753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2" name="Google Shape;62;p16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8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3" name="Google Shape;73;p18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3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document/d/1nfCYT2J9izSM3hAneIUmSzCwK0Dj4rCPkoo7S03hsWc/edit?tab=t.0" TargetMode="External"/><Relationship Id="rId10" Type="http://schemas.openxmlformats.org/officeDocument/2006/relationships/hyperlink" Target="https://docs.google.com/document/d/1nfCYT2J9izSM3hAneIUmSzCwK0Dj4rCPkoo7S03hsWc/edit?tab=t.0" TargetMode="External"/><Relationship Id="rId13" Type="http://schemas.openxmlformats.org/officeDocument/2006/relationships/hyperlink" Target="https://docs.google.com/document/d/1eKdY5xbEuKBN1zwi0ZtBPobzVAKQ_t9ldP5zGLRYmL0/edit?tab=t.0" TargetMode="External"/><Relationship Id="rId12" Type="http://schemas.openxmlformats.org/officeDocument/2006/relationships/hyperlink" Target="https://docs.google.com/document/d/1nfCYT2J9izSM3hAneIUmSzCwK0Dj4rCPkoo7S03hsWc/edit?tab=t.0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Dx_NK2FhzW3LfSHRS_4jFQZ6FBc25UW-CO2qgoItjSI/edit?tab=t.0" TargetMode="External"/><Relationship Id="rId9" Type="http://schemas.openxmlformats.org/officeDocument/2006/relationships/hyperlink" Target="https://docs.google.com/document/d/1GJ_HUxZGVEF7SATPG8MjIB4GLMCqFS22e0W3hG3GQTE/edit?tab=t.0" TargetMode="External"/><Relationship Id="rId15" Type="http://schemas.openxmlformats.org/officeDocument/2006/relationships/hyperlink" Target="https://docs.google.com/document/d/1FNxnIvT1Kt1cxGpx888GjN93EX2PgrJAkom5eeBkXSY/edit?tab=t.0" TargetMode="External"/><Relationship Id="rId14" Type="http://schemas.openxmlformats.org/officeDocument/2006/relationships/hyperlink" Target="https://docs.google.com/document/d/1eKdY5xbEuKBN1zwi0ZtBPobzVAKQ_t9ldP5zGLRYmL0/edit?tab=t.0" TargetMode="External"/><Relationship Id="rId17" Type="http://schemas.openxmlformats.org/officeDocument/2006/relationships/hyperlink" Target="https://docs.google.com/document/d/1GJ_HUxZGVEF7SATPG8MjIB4GLMCqFS22e0W3hG3GQTE/edit?tab=t.0" TargetMode="External"/><Relationship Id="rId16" Type="http://schemas.openxmlformats.org/officeDocument/2006/relationships/hyperlink" Target="https://docs.google.com/document/d/1FNxnIvT1Kt1cxGpx888GjN93EX2PgrJAkom5eeBkXSY/edit?tab=t.0" TargetMode="External"/><Relationship Id="rId5" Type="http://schemas.openxmlformats.org/officeDocument/2006/relationships/hyperlink" Target="https://docs.google.com/document/d/1nfCYT2J9izSM3hAneIUmSzCwK0Dj4rCPkoo7S03hsWc/edit?tab=t.0" TargetMode="External"/><Relationship Id="rId6" Type="http://schemas.openxmlformats.org/officeDocument/2006/relationships/hyperlink" Target="https://docs.google.com/document/d/1eKdY5xbEuKBN1zwi0ZtBPobzVAKQ_t9ldP5zGLRYmL0/edit?tab=t.0" TargetMode="External"/><Relationship Id="rId18" Type="http://schemas.openxmlformats.org/officeDocument/2006/relationships/hyperlink" Target="https://docs.google.com/document/d/1GJ_HUxZGVEF7SATPG8MjIB4GLMCqFS22e0W3hG3GQTE/edit?tab=t.0" TargetMode="External"/><Relationship Id="rId7" Type="http://schemas.openxmlformats.org/officeDocument/2006/relationships/hyperlink" Target="https://docs.google.com/document/d/1eKdY5xbEuKBN1zwi0ZtBPobzVAKQ_t9ldP5zGLRYmL0/edit?tab=t.0" TargetMode="External"/><Relationship Id="rId8" Type="http://schemas.openxmlformats.org/officeDocument/2006/relationships/hyperlink" Target="https://docs.google.com/document/d/1FNxnIvT1Kt1cxGpx888GjN93EX2PgrJAkom5eeBkXSY/edit?tab=t.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3aHn3kwmMn2G-gFHdg0QetyjP2wbk6i3lwdx7ko-RCU/edit?tab=t.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2400" y="0"/>
            <a:ext cx="2261600" cy="10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/>
        </p:nvSpPr>
        <p:spPr>
          <a:xfrm>
            <a:off x="221725" y="1786775"/>
            <a:ext cx="62040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FuSa_SW</a:t>
            </a:r>
            <a:endParaRPr b="1" sz="2400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28"/>
          <p:cNvSpPr txBox="1"/>
          <p:nvPr/>
        </p:nvSpPr>
        <p:spPr>
          <a:xfrm>
            <a:off x="0" y="2125"/>
            <a:ext cx="904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Safety Architecture &amp; Analysis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4" name="Google Shape;124;p28"/>
          <p:cNvSpPr/>
          <p:nvPr/>
        </p:nvSpPr>
        <p:spPr>
          <a:xfrm>
            <a:off x="1952224" y="2324850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ESP_T</a:t>
            </a:r>
            <a:r>
              <a:rPr lang="en" sz="1200">
                <a:solidFill>
                  <a:schemeClr val="dk1"/>
                </a:solidFill>
              </a:rPr>
              <a:t>[2]</a:t>
            </a:r>
            <a:endParaRPr sz="1200"/>
          </a:p>
        </p:txBody>
      </p:sp>
      <p:sp>
        <p:nvSpPr>
          <p:cNvPr id="125" name="Google Shape;125;p28"/>
          <p:cNvSpPr/>
          <p:nvPr/>
        </p:nvSpPr>
        <p:spPr>
          <a:xfrm>
            <a:off x="1952224" y="3834500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ESP_T</a:t>
            </a:r>
            <a:r>
              <a:rPr lang="en" sz="1200">
                <a:solidFill>
                  <a:schemeClr val="dk1"/>
                </a:solidFill>
              </a:rPr>
              <a:t>[4]</a:t>
            </a:r>
            <a:endParaRPr sz="1200"/>
          </a:p>
        </p:txBody>
      </p:sp>
      <p:sp>
        <p:nvSpPr>
          <p:cNvPr id="126" name="Google Shape;126;p28"/>
          <p:cNvSpPr/>
          <p:nvPr/>
        </p:nvSpPr>
        <p:spPr>
          <a:xfrm>
            <a:off x="33305" y="2638438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ESP_I[1]</a:t>
            </a:r>
            <a:endParaRPr sz="1200"/>
          </a:p>
        </p:txBody>
      </p:sp>
      <p:sp>
        <p:nvSpPr>
          <p:cNvPr id="127" name="Google Shape;127;p28"/>
          <p:cNvSpPr/>
          <p:nvPr/>
        </p:nvSpPr>
        <p:spPr>
          <a:xfrm>
            <a:off x="1952224" y="1570025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ESP_T [1]</a:t>
            </a:r>
            <a:endParaRPr sz="1200"/>
          </a:p>
        </p:txBody>
      </p:sp>
      <p:sp>
        <p:nvSpPr>
          <p:cNvPr id="128" name="Google Shape;128;p28"/>
          <p:cNvSpPr/>
          <p:nvPr/>
        </p:nvSpPr>
        <p:spPr>
          <a:xfrm>
            <a:off x="1952224" y="3079675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ESP_T</a:t>
            </a:r>
            <a:r>
              <a:rPr lang="en" sz="1200">
                <a:solidFill>
                  <a:schemeClr val="dk1"/>
                </a:solidFill>
              </a:rPr>
              <a:t>[3]</a:t>
            </a:r>
            <a:endParaRPr sz="1200"/>
          </a:p>
        </p:txBody>
      </p:sp>
      <p:cxnSp>
        <p:nvCxnSpPr>
          <p:cNvPr id="129" name="Google Shape;129;p28"/>
          <p:cNvCxnSpPr/>
          <p:nvPr/>
        </p:nvCxnSpPr>
        <p:spPr>
          <a:xfrm>
            <a:off x="1473125" y="1520375"/>
            <a:ext cx="9000" cy="29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8"/>
          <p:cNvCxnSpPr/>
          <p:nvPr/>
        </p:nvCxnSpPr>
        <p:spPr>
          <a:xfrm>
            <a:off x="1625525" y="1520375"/>
            <a:ext cx="9000" cy="29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8"/>
          <p:cNvCxnSpPr/>
          <p:nvPr/>
        </p:nvCxnSpPr>
        <p:spPr>
          <a:xfrm>
            <a:off x="1178167" y="2802838"/>
            <a:ext cx="3006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8"/>
          <p:cNvCxnSpPr/>
          <p:nvPr/>
        </p:nvCxnSpPr>
        <p:spPr>
          <a:xfrm>
            <a:off x="1181405" y="2943038"/>
            <a:ext cx="44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8"/>
          <p:cNvCxnSpPr/>
          <p:nvPr/>
        </p:nvCxnSpPr>
        <p:spPr>
          <a:xfrm>
            <a:off x="1625526" y="1730325"/>
            <a:ext cx="324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8"/>
          <p:cNvCxnSpPr/>
          <p:nvPr/>
        </p:nvCxnSpPr>
        <p:spPr>
          <a:xfrm flipH="1" rot="10800000">
            <a:off x="1477650" y="1871225"/>
            <a:ext cx="4746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8"/>
          <p:cNvCxnSpPr/>
          <p:nvPr/>
        </p:nvCxnSpPr>
        <p:spPr>
          <a:xfrm>
            <a:off x="1624376" y="2426525"/>
            <a:ext cx="324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8"/>
          <p:cNvCxnSpPr/>
          <p:nvPr/>
        </p:nvCxnSpPr>
        <p:spPr>
          <a:xfrm>
            <a:off x="1468200" y="2561500"/>
            <a:ext cx="4827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8"/>
          <p:cNvCxnSpPr/>
          <p:nvPr/>
        </p:nvCxnSpPr>
        <p:spPr>
          <a:xfrm>
            <a:off x="1625526" y="3158075"/>
            <a:ext cx="324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8"/>
          <p:cNvCxnSpPr/>
          <p:nvPr/>
        </p:nvCxnSpPr>
        <p:spPr>
          <a:xfrm flipH="1" rot="10800000">
            <a:off x="1477650" y="3299375"/>
            <a:ext cx="4743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8"/>
          <p:cNvCxnSpPr/>
          <p:nvPr/>
        </p:nvCxnSpPr>
        <p:spPr>
          <a:xfrm>
            <a:off x="1634526" y="3994800"/>
            <a:ext cx="324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8"/>
          <p:cNvCxnSpPr/>
          <p:nvPr/>
        </p:nvCxnSpPr>
        <p:spPr>
          <a:xfrm flipH="1" rot="10800000">
            <a:off x="1464950" y="4135775"/>
            <a:ext cx="4959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8"/>
          <p:cNvSpPr/>
          <p:nvPr/>
        </p:nvSpPr>
        <p:spPr>
          <a:xfrm>
            <a:off x="3570425" y="1580450"/>
            <a:ext cx="399900" cy="2726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Switch</a:t>
            </a:r>
            <a:endParaRPr sz="1200"/>
          </a:p>
        </p:txBody>
      </p:sp>
      <p:cxnSp>
        <p:nvCxnSpPr>
          <p:cNvPr id="142" name="Google Shape;142;p28"/>
          <p:cNvCxnSpPr/>
          <p:nvPr/>
        </p:nvCxnSpPr>
        <p:spPr>
          <a:xfrm>
            <a:off x="138900" y="1179850"/>
            <a:ext cx="386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8"/>
          <p:cNvCxnSpPr/>
          <p:nvPr/>
        </p:nvCxnSpPr>
        <p:spPr>
          <a:xfrm>
            <a:off x="138900" y="1353200"/>
            <a:ext cx="386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8"/>
          <p:cNvCxnSpPr/>
          <p:nvPr/>
        </p:nvCxnSpPr>
        <p:spPr>
          <a:xfrm>
            <a:off x="526200" y="1353200"/>
            <a:ext cx="0" cy="12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8"/>
          <p:cNvCxnSpPr/>
          <p:nvPr/>
        </p:nvCxnSpPr>
        <p:spPr>
          <a:xfrm>
            <a:off x="686875" y="1173275"/>
            <a:ext cx="2100" cy="14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8"/>
          <p:cNvCxnSpPr/>
          <p:nvPr/>
        </p:nvCxnSpPr>
        <p:spPr>
          <a:xfrm>
            <a:off x="3687450" y="1350900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8"/>
          <p:cNvCxnSpPr/>
          <p:nvPr/>
        </p:nvCxnSpPr>
        <p:spPr>
          <a:xfrm>
            <a:off x="3827150" y="1177300"/>
            <a:ext cx="3600" cy="40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8"/>
          <p:cNvCxnSpPr/>
          <p:nvPr/>
        </p:nvCxnSpPr>
        <p:spPr>
          <a:xfrm>
            <a:off x="3100326" y="1730325"/>
            <a:ext cx="4665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8"/>
          <p:cNvCxnSpPr/>
          <p:nvPr/>
        </p:nvCxnSpPr>
        <p:spPr>
          <a:xfrm>
            <a:off x="3100326" y="2492175"/>
            <a:ext cx="4665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8"/>
          <p:cNvCxnSpPr/>
          <p:nvPr/>
        </p:nvCxnSpPr>
        <p:spPr>
          <a:xfrm>
            <a:off x="3100326" y="3228325"/>
            <a:ext cx="4665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8"/>
          <p:cNvCxnSpPr/>
          <p:nvPr/>
        </p:nvCxnSpPr>
        <p:spPr>
          <a:xfrm>
            <a:off x="3100326" y="3976150"/>
            <a:ext cx="4665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8"/>
          <p:cNvSpPr/>
          <p:nvPr/>
        </p:nvSpPr>
        <p:spPr>
          <a:xfrm>
            <a:off x="4363574" y="2363050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Amb_light_S</a:t>
            </a:r>
            <a:r>
              <a:rPr lang="en" sz="1200">
                <a:solidFill>
                  <a:schemeClr val="dk1"/>
                </a:solidFill>
              </a:rPr>
              <a:t>[2]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4363574" y="3872700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Rotation_S[4]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4363574" y="1608225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Temp_S[1]</a:t>
            </a:r>
            <a:endParaRPr sz="1200"/>
          </a:p>
        </p:txBody>
      </p:sp>
      <p:sp>
        <p:nvSpPr>
          <p:cNvPr id="155" name="Google Shape;155;p28"/>
          <p:cNvSpPr/>
          <p:nvPr/>
        </p:nvSpPr>
        <p:spPr>
          <a:xfrm>
            <a:off x="4355986" y="3103225"/>
            <a:ext cx="11481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TSR[3]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56" name="Google Shape;156;p28"/>
          <p:cNvCxnSpPr/>
          <p:nvPr/>
        </p:nvCxnSpPr>
        <p:spPr>
          <a:xfrm>
            <a:off x="3330875" y="1891198"/>
            <a:ext cx="9000" cy="25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8"/>
          <p:cNvCxnSpPr/>
          <p:nvPr/>
        </p:nvCxnSpPr>
        <p:spPr>
          <a:xfrm>
            <a:off x="3098075" y="192433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8"/>
          <p:cNvCxnSpPr/>
          <p:nvPr/>
        </p:nvCxnSpPr>
        <p:spPr>
          <a:xfrm>
            <a:off x="3098075" y="267243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8"/>
          <p:cNvCxnSpPr/>
          <p:nvPr/>
        </p:nvCxnSpPr>
        <p:spPr>
          <a:xfrm>
            <a:off x="3098075" y="336873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8"/>
          <p:cNvCxnSpPr/>
          <p:nvPr/>
        </p:nvCxnSpPr>
        <p:spPr>
          <a:xfrm>
            <a:off x="3112475" y="416228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8"/>
          <p:cNvCxnSpPr/>
          <p:nvPr/>
        </p:nvCxnSpPr>
        <p:spPr>
          <a:xfrm>
            <a:off x="3965725" y="1721813"/>
            <a:ext cx="39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8"/>
          <p:cNvCxnSpPr/>
          <p:nvPr/>
        </p:nvCxnSpPr>
        <p:spPr>
          <a:xfrm flipH="1" rot="10800000">
            <a:off x="3969175" y="2476713"/>
            <a:ext cx="3945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8"/>
          <p:cNvCxnSpPr/>
          <p:nvPr/>
        </p:nvCxnSpPr>
        <p:spPr>
          <a:xfrm flipH="1" rot="10800000">
            <a:off x="3967375" y="3224351"/>
            <a:ext cx="3945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8"/>
          <p:cNvCxnSpPr/>
          <p:nvPr/>
        </p:nvCxnSpPr>
        <p:spPr>
          <a:xfrm flipH="1" rot="10800000">
            <a:off x="3967375" y="3972013"/>
            <a:ext cx="3945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8"/>
          <p:cNvCxnSpPr/>
          <p:nvPr/>
        </p:nvCxnSpPr>
        <p:spPr>
          <a:xfrm>
            <a:off x="4136275" y="192433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8"/>
          <p:cNvCxnSpPr/>
          <p:nvPr/>
        </p:nvCxnSpPr>
        <p:spPr>
          <a:xfrm>
            <a:off x="4136275" y="1896964"/>
            <a:ext cx="9000" cy="25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8"/>
          <p:cNvCxnSpPr/>
          <p:nvPr/>
        </p:nvCxnSpPr>
        <p:spPr>
          <a:xfrm>
            <a:off x="4145275" y="267243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8"/>
          <p:cNvCxnSpPr/>
          <p:nvPr/>
        </p:nvCxnSpPr>
        <p:spPr>
          <a:xfrm>
            <a:off x="4145275" y="336873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8"/>
          <p:cNvCxnSpPr/>
          <p:nvPr/>
        </p:nvCxnSpPr>
        <p:spPr>
          <a:xfrm>
            <a:off x="4136275" y="4162288"/>
            <a:ext cx="227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8"/>
          <p:cNvCxnSpPr/>
          <p:nvPr/>
        </p:nvCxnSpPr>
        <p:spPr>
          <a:xfrm>
            <a:off x="3221675" y="4441613"/>
            <a:ext cx="1020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8"/>
          <p:cNvSpPr txBox="1"/>
          <p:nvPr/>
        </p:nvSpPr>
        <p:spPr>
          <a:xfrm>
            <a:off x="4363575" y="1135450"/>
            <a:ext cx="114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Engine / coolant / ambient temp sensing </a:t>
            </a:r>
            <a:endParaRPr sz="800"/>
          </a:p>
        </p:txBody>
      </p:sp>
      <p:sp>
        <p:nvSpPr>
          <p:cNvPr id="172" name="Google Shape;172;p28"/>
          <p:cNvSpPr txBox="1"/>
          <p:nvPr/>
        </p:nvSpPr>
        <p:spPr>
          <a:xfrm>
            <a:off x="4355975" y="2750963"/>
            <a:ext cx="114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Traffic Signal Recognition (TSR) Sensor</a:t>
            </a:r>
            <a:endParaRPr sz="800"/>
          </a:p>
        </p:txBody>
      </p:sp>
      <p:sp>
        <p:nvSpPr>
          <p:cNvPr id="173" name="Google Shape;173;p28"/>
          <p:cNvSpPr txBox="1"/>
          <p:nvPr/>
        </p:nvSpPr>
        <p:spPr>
          <a:xfrm>
            <a:off x="4241913" y="3603963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Rotary encoder</a:t>
            </a:r>
            <a:endParaRPr sz="800"/>
          </a:p>
        </p:txBody>
      </p:sp>
      <p:sp>
        <p:nvSpPr>
          <p:cNvPr id="174" name="Google Shape;174;p28"/>
          <p:cNvSpPr txBox="1"/>
          <p:nvPr/>
        </p:nvSpPr>
        <p:spPr>
          <a:xfrm rot="-5397419">
            <a:off x="1141398" y="1973798"/>
            <a:ext cx="79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ESP_I2C0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849650" y="1112700"/>
            <a:ext cx="83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ESP_I_</a:t>
            </a:r>
            <a:r>
              <a:rPr lang="en" sz="800">
                <a:solidFill>
                  <a:schemeClr val="dk2"/>
                </a:solidFill>
              </a:rPr>
              <a:t>I2C1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365974" y="2015675"/>
            <a:ext cx="114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Ambient Light Sensor (ALS)</a:t>
            </a:r>
            <a:endParaRPr sz="800"/>
          </a:p>
        </p:txBody>
      </p:sp>
      <p:sp>
        <p:nvSpPr>
          <p:cNvPr id="177" name="Google Shape;177;p28"/>
          <p:cNvSpPr/>
          <p:nvPr/>
        </p:nvSpPr>
        <p:spPr>
          <a:xfrm>
            <a:off x="5233391" y="1774490"/>
            <a:ext cx="227394" cy="217512"/>
          </a:xfrm>
          <a:prstGeom prst="lightningBol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5233391" y="1525968"/>
            <a:ext cx="4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5233391" y="2597103"/>
            <a:ext cx="227394" cy="217512"/>
          </a:xfrm>
          <a:prstGeom prst="lightningBol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5233391" y="2348582"/>
            <a:ext cx="4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5233391" y="3326199"/>
            <a:ext cx="227394" cy="217512"/>
          </a:xfrm>
          <a:prstGeom prst="lightningBol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5233391" y="3077677"/>
            <a:ext cx="4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5233391" y="4102054"/>
            <a:ext cx="227394" cy="217512"/>
          </a:xfrm>
          <a:prstGeom prst="lightningBol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5233391" y="3853532"/>
            <a:ext cx="4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3496716" y="1930466"/>
            <a:ext cx="227394" cy="217512"/>
          </a:xfrm>
          <a:prstGeom prst="lightningBol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3496716" y="1681944"/>
            <a:ext cx="4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87" name="Google Shape;187;p28"/>
          <p:cNvCxnSpPr/>
          <p:nvPr/>
        </p:nvCxnSpPr>
        <p:spPr>
          <a:xfrm flipH="1">
            <a:off x="5595250" y="1116550"/>
            <a:ext cx="19200" cy="36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8"/>
          <p:cNvSpPr txBox="1"/>
          <p:nvPr/>
        </p:nvSpPr>
        <p:spPr>
          <a:xfrm>
            <a:off x="5669450" y="406075"/>
            <a:ext cx="299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ailure</a:t>
            </a: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Modes</a:t>
            </a:r>
            <a:r>
              <a:rPr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33300" y="406075"/>
            <a:ext cx="23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Reliability Block Diagram</a:t>
            </a:r>
            <a:endParaRPr b="1" sz="11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33300" y="3006738"/>
            <a:ext cx="495900" cy="17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STL</a:t>
            </a:r>
            <a:endParaRPr sz="1000"/>
          </a:p>
        </p:txBody>
      </p:sp>
      <p:sp>
        <p:nvSpPr>
          <p:cNvPr id="191" name="Google Shape;191;p28"/>
          <p:cNvSpPr txBox="1"/>
          <p:nvPr/>
        </p:nvSpPr>
        <p:spPr>
          <a:xfrm>
            <a:off x="5676175" y="693675"/>
            <a:ext cx="333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Bus Failure modes as per ISO 26262 safety standard part 5 and part 11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5748925" y="1181100"/>
            <a:ext cx="3265800" cy="800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FM1 → </a:t>
            </a:r>
            <a:r>
              <a:rPr lang="en" sz="800">
                <a:solidFill>
                  <a:schemeClr val="dk1"/>
                </a:solidFill>
              </a:rPr>
              <a:t>Downstream block stalls due to </a:t>
            </a:r>
            <a:r>
              <a:rPr lang="en" sz="800">
                <a:solidFill>
                  <a:srgbClr val="FF00FF"/>
                </a:solidFill>
              </a:rPr>
              <a:t>Requested transaction not delivered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Failure mode replica  → Switch is open (sensor I2C Data bus is s-a-Z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STL at Initiator or Target</a:t>
            </a:r>
            <a:r>
              <a:rPr lang="en" sz="800">
                <a:solidFill>
                  <a:schemeClr val="dk1"/>
                </a:solidFill>
              </a:rPr>
              <a:t> → Consistency Monitor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5726600" y="2080863"/>
            <a:ext cx="3265800" cy="800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FM2 → </a:t>
            </a:r>
            <a:r>
              <a:rPr lang="en" sz="800">
                <a:solidFill>
                  <a:schemeClr val="dk1"/>
                </a:solidFill>
              </a:rPr>
              <a:t>Incorrect configuration due to I2C  bus transfer incorrect data due to </a:t>
            </a:r>
            <a:r>
              <a:rPr lang="en" sz="800">
                <a:solidFill>
                  <a:srgbClr val="FF00FF"/>
                </a:solidFill>
              </a:rPr>
              <a:t>Transaction delivered without a request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Failure mode replica → By default Sensors are giving data without a call function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STL at Target</a:t>
            </a:r>
            <a:r>
              <a:rPr lang="en" sz="800">
                <a:solidFill>
                  <a:schemeClr val="dk1"/>
                </a:solidFill>
              </a:rPr>
              <a:t> → FIFO Overflow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714800" y="2937963"/>
            <a:ext cx="3265800" cy="1046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FM3 → I2C</a:t>
            </a:r>
            <a:r>
              <a:rPr lang="en" sz="800">
                <a:solidFill>
                  <a:schemeClr val="dk1"/>
                </a:solidFill>
              </a:rPr>
              <a:t> bus transfer repeated data/data loss due to </a:t>
            </a:r>
            <a:r>
              <a:rPr lang="en" sz="800">
                <a:solidFill>
                  <a:srgbClr val="FF00FF"/>
                </a:solidFill>
              </a:rPr>
              <a:t>Transaction delivered with incorrect timing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Failure mode replica →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Repeated Data : Introduce fault in Target by sending </a:t>
            </a:r>
            <a:r>
              <a:rPr lang="en" sz="800">
                <a:solidFill>
                  <a:schemeClr val="dk1"/>
                </a:solidFill>
              </a:rPr>
              <a:t>repeat</a:t>
            </a:r>
            <a:r>
              <a:rPr lang="en" sz="800">
                <a:solidFill>
                  <a:schemeClr val="dk1"/>
                </a:solidFill>
              </a:rPr>
              <a:t> data instead of sensor data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Data loss : Switch open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STL at Initiator or target→ No </a:t>
            </a:r>
            <a:r>
              <a:rPr lang="en" sz="800">
                <a:solidFill>
                  <a:schemeClr val="dk1"/>
                </a:solidFill>
              </a:rPr>
              <a:t>change</a:t>
            </a:r>
            <a:r>
              <a:rPr lang="en" sz="800">
                <a:solidFill>
                  <a:schemeClr val="dk1"/>
                </a:solidFill>
              </a:rPr>
              <a:t> in incoming data at LSBs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5748925" y="4041363"/>
            <a:ext cx="3265800" cy="677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FM4 → </a:t>
            </a:r>
            <a:r>
              <a:rPr lang="en" sz="800">
                <a:solidFill>
                  <a:schemeClr val="dk1"/>
                </a:solidFill>
              </a:rPr>
              <a:t>Down stream block consumes Incorrect data due to </a:t>
            </a:r>
            <a:r>
              <a:rPr lang="en" sz="800">
                <a:solidFill>
                  <a:srgbClr val="FF00FF"/>
                </a:solidFill>
              </a:rPr>
              <a:t>Transaction delivered with incorrect data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Failure mode replica → incorrect command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STL at Target → Incorrect </a:t>
            </a:r>
            <a:r>
              <a:rPr lang="en" sz="800">
                <a:solidFill>
                  <a:schemeClr val="dk1"/>
                </a:solidFill>
              </a:rPr>
              <a:t>commond</a:t>
            </a:r>
            <a:r>
              <a:rPr lang="en" sz="800">
                <a:solidFill>
                  <a:schemeClr val="dk1"/>
                </a:solidFill>
              </a:rPr>
              <a:t> should result to timeout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2038575" y="1951463"/>
            <a:ext cx="495900" cy="17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STL</a:t>
            </a:r>
            <a:endParaRPr sz="1000"/>
          </a:p>
        </p:txBody>
      </p:sp>
      <p:sp>
        <p:nvSpPr>
          <p:cNvPr id="197" name="Google Shape;197;p28"/>
          <p:cNvSpPr/>
          <p:nvPr/>
        </p:nvSpPr>
        <p:spPr>
          <a:xfrm>
            <a:off x="2008188" y="2715688"/>
            <a:ext cx="495900" cy="17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STL</a:t>
            </a:r>
            <a:endParaRPr sz="1000"/>
          </a:p>
        </p:txBody>
      </p:sp>
      <p:sp>
        <p:nvSpPr>
          <p:cNvPr id="198" name="Google Shape;198;p28"/>
          <p:cNvSpPr/>
          <p:nvPr/>
        </p:nvSpPr>
        <p:spPr>
          <a:xfrm>
            <a:off x="2008200" y="3479913"/>
            <a:ext cx="495900" cy="17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STL</a:t>
            </a:r>
            <a:endParaRPr sz="1000"/>
          </a:p>
        </p:txBody>
      </p:sp>
      <p:sp>
        <p:nvSpPr>
          <p:cNvPr id="199" name="Google Shape;199;p28"/>
          <p:cNvSpPr/>
          <p:nvPr/>
        </p:nvSpPr>
        <p:spPr>
          <a:xfrm>
            <a:off x="2038575" y="4244138"/>
            <a:ext cx="495900" cy="17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STL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 rotWithShape="1">
          <a:blip r:embed="rId4">
            <a:alphaModFix/>
          </a:blip>
          <a:srcRect b="0" l="14342" r="14335" t="0"/>
          <a:stretch/>
        </p:blipFill>
        <p:spPr>
          <a:xfrm>
            <a:off x="1420450" y="662750"/>
            <a:ext cx="5711674" cy="38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0" y="0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</a:rPr>
              <a:t>Schematics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pic>
        <p:nvPicPr>
          <p:cNvPr id="216" name="Google Shape;216;p30" title="Platform Bits_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250" y="760300"/>
            <a:ext cx="2325075" cy="38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0" y="0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L</a:t>
            </a:r>
            <a:r>
              <a:rPr lang="en" sz="2200">
                <a:solidFill>
                  <a:schemeClr val="lt1"/>
                </a:solidFill>
              </a:rPr>
              <a:t>ayout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218" name="Google Shape;218;p30" title="Platform_bits_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7750" y="760300"/>
            <a:ext cx="2325075" cy="38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1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0" y="38982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Final Board 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248862" y="-880787"/>
            <a:ext cx="4065601" cy="690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sp>
        <p:nvSpPr>
          <p:cNvPr id="234" name="Google Shape;234;p32"/>
          <p:cNvSpPr txBox="1"/>
          <p:nvPr/>
        </p:nvSpPr>
        <p:spPr>
          <a:xfrm>
            <a:off x="0" y="78325"/>
            <a:ext cx="904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SW architecture Design - “Integration at User Application” 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235" name="Google Shape;235;p32"/>
          <p:cNvCxnSpPr/>
          <p:nvPr/>
        </p:nvCxnSpPr>
        <p:spPr>
          <a:xfrm flipH="1" rot="10800000">
            <a:off x="4348775" y="2825420"/>
            <a:ext cx="45057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2"/>
          <p:cNvCxnSpPr/>
          <p:nvPr/>
        </p:nvCxnSpPr>
        <p:spPr>
          <a:xfrm rot="10800000">
            <a:off x="4527616" y="1782476"/>
            <a:ext cx="9000" cy="13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32"/>
          <p:cNvSpPr/>
          <p:nvPr/>
        </p:nvSpPr>
        <p:spPr>
          <a:xfrm>
            <a:off x="5206141" y="1801598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"/>
          <p:cNvSpPr/>
          <p:nvPr/>
        </p:nvSpPr>
        <p:spPr>
          <a:xfrm>
            <a:off x="5381441" y="1799173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4116116" y="1342501"/>
            <a:ext cx="316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Periodic STLs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5229053" y="1801598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5780622" y="1796945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>
            <a:off x="5955922" y="1794520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5803534" y="1796945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/>
          <p:nvPr/>
        </p:nvSpPr>
        <p:spPr>
          <a:xfrm>
            <a:off x="7709429" y="1801853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2"/>
          <p:cNvSpPr/>
          <p:nvPr/>
        </p:nvSpPr>
        <p:spPr>
          <a:xfrm>
            <a:off x="7884729" y="1799428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>
            <a:off x="7732341" y="1801853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/>
          <p:nvPr/>
        </p:nvSpPr>
        <p:spPr>
          <a:xfrm>
            <a:off x="8283910" y="1797199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2"/>
          <p:cNvSpPr/>
          <p:nvPr/>
        </p:nvSpPr>
        <p:spPr>
          <a:xfrm>
            <a:off x="8459210" y="1794774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8306822" y="1797199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/>
          <p:nvPr/>
        </p:nvSpPr>
        <p:spPr>
          <a:xfrm>
            <a:off x="5216211" y="1993262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2"/>
          <p:cNvSpPr/>
          <p:nvPr/>
        </p:nvSpPr>
        <p:spPr>
          <a:xfrm>
            <a:off x="5391511" y="1990837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5239124" y="1993262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5790692" y="1988608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5965992" y="1986183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/>
          <p:nvPr/>
        </p:nvSpPr>
        <p:spPr>
          <a:xfrm>
            <a:off x="5813605" y="1988608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7719499" y="1993516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7894799" y="1991091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7742412" y="1993516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/>
          <p:nvPr/>
        </p:nvSpPr>
        <p:spPr>
          <a:xfrm>
            <a:off x="8293980" y="1988863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8469280" y="1986438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8316893" y="1988863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5221373" y="2199649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"/>
          <p:cNvSpPr/>
          <p:nvPr/>
        </p:nvSpPr>
        <p:spPr>
          <a:xfrm>
            <a:off x="5396673" y="2197224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5244286" y="2199649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5795855" y="2194995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5971155" y="2192570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5818767" y="2194995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7724661" y="2199903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7899961" y="2197478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"/>
          <p:cNvSpPr/>
          <p:nvPr/>
        </p:nvSpPr>
        <p:spPr>
          <a:xfrm>
            <a:off x="7747574" y="2199903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>
            <a:off x="8299143" y="2195250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"/>
          <p:cNvSpPr/>
          <p:nvPr/>
        </p:nvSpPr>
        <p:spPr>
          <a:xfrm>
            <a:off x="8474443" y="2192825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8322055" y="2195250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5226536" y="2410944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5401836" y="2408519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5249448" y="2410944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5801017" y="2406290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5976317" y="2403865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5823929" y="2406290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7729824" y="2411198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7905124" y="2408773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7752736" y="2411198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2"/>
          <p:cNvSpPr/>
          <p:nvPr/>
        </p:nvSpPr>
        <p:spPr>
          <a:xfrm>
            <a:off x="8304305" y="2406545"/>
            <a:ext cx="528000" cy="1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8479605" y="2404120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8327217" y="2406545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4986862" y="2646778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5640268" y="2649261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2"/>
          <p:cNvSpPr/>
          <p:nvPr/>
        </p:nvSpPr>
        <p:spPr>
          <a:xfrm>
            <a:off x="203410" y="1195025"/>
            <a:ext cx="1160400" cy="25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User Application</a:t>
            </a:r>
            <a:endParaRPr sz="1000"/>
          </a:p>
        </p:txBody>
      </p:sp>
      <p:sp>
        <p:nvSpPr>
          <p:cNvPr id="289" name="Google Shape;289;p32"/>
          <p:cNvSpPr/>
          <p:nvPr/>
        </p:nvSpPr>
        <p:spPr>
          <a:xfrm>
            <a:off x="203410" y="1624900"/>
            <a:ext cx="1160400" cy="251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self_test_init</a:t>
            </a:r>
            <a:endParaRPr sz="1000"/>
          </a:p>
        </p:txBody>
      </p:sp>
      <p:sp>
        <p:nvSpPr>
          <p:cNvPr id="290" name="Google Shape;290;p32"/>
          <p:cNvSpPr/>
          <p:nvPr/>
        </p:nvSpPr>
        <p:spPr>
          <a:xfrm>
            <a:off x="1897906" y="1038050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self_test_TS [Target]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1" name="Google Shape;291;p32"/>
          <p:cNvSpPr/>
          <p:nvPr/>
        </p:nvSpPr>
        <p:spPr>
          <a:xfrm>
            <a:off x="1897906" y="1475149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self_test_AL[Target</a:t>
            </a:r>
            <a:r>
              <a:rPr lang="en" sz="1000" u="sng">
                <a:solidFill>
                  <a:schemeClr val="hlink"/>
                </a:solidFill>
                <a:hlinkClick r:id="rId7"/>
              </a:rPr>
              <a:t>]</a:t>
            </a:r>
            <a:endParaRPr sz="1000"/>
          </a:p>
        </p:txBody>
      </p:sp>
      <p:sp>
        <p:nvSpPr>
          <p:cNvPr id="292" name="Google Shape;292;p32"/>
          <p:cNvSpPr/>
          <p:nvPr/>
        </p:nvSpPr>
        <p:spPr>
          <a:xfrm>
            <a:off x="1892181" y="1924197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self_test_ROT[Target]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1897906" y="2349346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self_test_TSR[Target]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94" name="Google Shape;294;p32"/>
          <p:cNvCxnSpPr>
            <a:stCxn id="289" idx="3"/>
            <a:endCxn id="290" idx="1"/>
          </p:cNvCxnSpPr>
          <p:nvPr/>
        </p:nvCxnSpPr>
        <p:spPr>
          <a:xfrm flipH="1" rot="10800000">
            <a:off x="1363810" y="1163950"/>
            <a:ext cx="534000" cy="5868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2"/>
          <p:cNvCxnSpPr>
            <a:stCxn id="289" idx="3"/>
            <a:endCxn id="291" idx="1"/>
          </p:cNvCxnSpPr>
          <p:nvPr/>
        </p:nvCxnSpPr>
        <p:spPr>
          <a:xfrm flipH="1" rot="10800000">
            <a:off x="1363810" y="1601050"/>
            <a:ext cx="534000" cy="1497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2"/>
          <p:cNvCxnSpPr>
            <a:stCxn id="289" idx="3"/>
            <a:endCxn id="292" idx="1"/>
          </p:cNvCxnSpPr>
          <p:nvPr/>
        </p:nvCxnSpPr>
        <p:spPr>
          <a:xfrm>
            <a:off x="1363810" y="1750750"/>
            <a:ext cx="528300" cy="2994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2"/>
          <p:cNvCxnSpPr>
            <a:stCxn id="289" idx="0"/>
          </p:cNvCxnSpPr>
          <p:nvPr/>
        </p:nvCxnSpPr>
        <p:spPr>
          <a:xfrm>
            <a:off x="783610" y="16249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2"/>
          <p:cNvCxnSpPr>
            <a:stCxn id="288" idx="2"/>
            <a:endCxn id="289" idx="0"/>
          </p:cNvCxnSpPr>
          <p:nvPr/>
        </p:nvCxnSpPr>
        <p:spPr>
          <a:xfrm>
            <a:off x="783610" y="1446725"/>
            <a:ext cx="0" cy="17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2"/>
          <p:cNvCxnSpPr>
            <a:stCxn id="286" idx="0"/>
            <a:endCxn id="276" idx="1"/>
          </p:cNvCxnSpPr>
          <p:nvPr/>
        </p:nvCxnSpPr>
        <p:spPr>
          <a:xfrm rot="-5400000">
            <a:off x="5064712" y="2461978"/>
            <a:ext cx="167100" cy="202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2"/>
          <p:cNvCxnSpPr>
            <a:stCxn id="286" idx="0"/>
            <a:endCxn id="264" idx="1"/>
          </p:cNvCxnSpPr>
          <p:nvPr/>
        </p:nvCxnSpPr>
        <p:spPr>
          <a:xfrm rot="-5400000">
            <a:off x="4956562" y="2358928"/>
            <a:ext cx="378300" cy="197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2"/>
          <p:cNvCxnSpPr>
            <a:stCxn id="286" idx="0"/>
            <a:endCxn id="252" idx="1"/>
          </p:cNvCxnSpPr>
          <p:nvPr/>
        </p:nvCxnSpPr>
        <p:spPr>
          <a:xfrm rot="-5400000">
            <a:off x="4850662" y="2258428"/>
            <a:ext cx="584700" cy="192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2"/>
          <p:cNvCxnSpPr>
            <a:stCxn id="286" idx="0"/>
            <a:endCxn id="240" idx="1"/>
          </p:cNvCxnSpPr>
          <p:nvPr/>
        </p:nvCxnSpPr>
        <p:spPr>
          <a:xfrm rot="-5400000">
            <a:off x="4749862" y="2167528"/>
            <a:ext cx="776400" cy="182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2"/>
          <p:cNvCxnSpPr>
            <a:stCxn id="238" idx="3"/>
            <a:endCxn id="287" idx="0"/>
          </p:cNvCxnSpPr>
          <p:nvPr/>
        </p:nvCxnSpPr>
        <p:spPr>
          <a:xfrm>
            <a:off x="5501741" y="1868023"/>
            <a:ext cx="198600" cy="781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2"/>
          <p:cNvCxnSpPr>
            <a:stCxn id="251" idx="3"/>
            <a:endCxn id="287" idx="0"/>
          </p:cNvCxnSpPr>
          <p:nvPr/>
        </p:nvCxnSpPr>
        <p:spPr>
          <a:xfrm>
            <a:off x="5511811" y="2059687"/>
            <a:ext cx="188700" cy="58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2"/>
          <p:cNvCxnSpPr>
            <a:stCxn id="263" idx="3"/>
            <a:endCxn id="287" idx="0"/>
          </p:cNvCxnSpPr>
          <p:nvPr/>
        </p:nvCxnSpPr>
        <p:spPr>
          <a:xfrm>
            <a:off x="5516973" y="2266074"/>
            <a:ext cx="183300" cy="38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2"/>
          <p:cNvCxnSpPr>
            <a:stCxn id="275" idx="3"/>
            <a:endCxn id="287" idx="0"/>
          </p:cNvCxnSpPr>
          <p:nvPr/>
        </p:nvCxnSpPr>
        <p:spPr>
          <a:xfrm>
            <a:off x="5522136" y="2477369"/>
            <a:ext cx="178200" cy="171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2"/>
          <p:cNvSpPr/>
          <p:nvPr/>
        </p:nvSpPr>
        <p:spPr>
          <a:xfrm>
            <a:off x="8064360" y="2639404"/>
            <a:ext cx="120300" cy="137700"/>
          </a:xfrm>
          <a:prstGeom prst="rect">
            <a:avLst/>
          </a:prstGeom>
          <a:solidFill>
            <a:srgbClr val="FF58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2"/>
          <p:cNvSpPr/>
          <p:nvPr/>
        </p:nvSpPr>
        <p:spPr>
          <a:xfrm>
            <a:off x="8717765" y="2641887"/>
            <a:ext cx="120300" cy="137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32"/>
          <p:cNvCxnSpPr/>
          <p:nvPr/>
        </p:nvCxnSpPr>
        <p:spPr>
          <a:xfrm flipH="1" rot="10800000">
            <a:off x="6726950" y="2018595"/>
            <a:ext cx="5778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2"/>
          <p:cNvCxnSpPr/>
          <p:nvPr/>
        </p:nvCxnSpPr>
        <p:spPr>
          <a:xfrm flipH="1" rot="10800000">
            <a:off x="6726950" y="2170995"/>
            <a:ext cx="5778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2"/>
          <p:cNvCxnSpPr/>
          <p:nvPr/>
        </p:nvCxnSpPr>
        <p:spPr>
          <a:xfrm flipH="1" rot="10800000">
            <a:off x="6726950" y="2323395"/>
            <a:ext cx="5778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2"/>
          <p:cNvCxnSpPr/>
          <p:nvPr/>
        </p:nvCxnSpPr>
        <p:spPr>
          <a:xfrm flipH="1" rot="10800000">
            <a:off x="6726950" y="2475795"/>
            <a:ext cx="5778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/>
          <p:nvPr/>
        </p:nvSpPr>
        <p:spPr>
          <a:xfrm>
            <a:off x="3498348" y="1047298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sp>
        <p:nvSpPr>
          <p:cNvPr id="314" name="Google Shape;314;p32"/>
          <p:cNvSpPr/>
          <p:nvPr/>
        </p:nvSpPr>
        <p:spPr>
          <a:xfrm>
            <a:off x="3498348" y="1475149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sp>
        <p:nvSpPr>
          <p:cNvPr id="315" name="Google Shape;315;p32"/>
          <p:cNvSpPr/>
          <p:nvPr/>
        </p:nvSpPr>
        <p:spPr>
          <a:xfrm>
            <a:off x="3498348" y="1912247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sp>
        <p:nvSpPr>
          <p:cNvPr id="316" name="Google Shape;316;p32"/>
          <p:cNvSpPr/>
          <p:nvPr/>
        </p:nvSpPr>
        <p:spPr>
          <a:xfrm>
            <a:off x="3498348" y="2349346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cxnSp>
        <p:nvCxnSpPr>
          <p:cNvPr id="317" name="Google Shape;317;p32"/>
          <p:cNvCxnSpPr/>
          <p:nvPr/>
        </p:nvCxnSpPr>
        <p:spPr>
          <a:xfrm>
            <a:off x="5251375" y="2987545"/>
            <a:ext cx="354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18" name="Google Shape;318;p32"/>
          <p:cNvSpPr txBox="1"/>
          <p:nvPr/>
        </p:nvSpPr>
        <p:spPr>
          <a:xfrm>
            <a:off x="6119900" y="2974671"/>
            <a:ext cx="205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Configurable window “T2” 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319" name="Google Shape;319;p32"/>
          <p:cNvCxnSpPr/>
          <p:nvPr/>
        </p:nvCxnSpPr>
        <p:spPr>
          <a:xfrm flipH="1" rot="10800000">
            <a:off x="5203550" y="1740470"/>
            <a:ext cx="531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20" name="Google Shape;320;p32"/>
          <p:cNvSpPr txBox="1"/>
          <p:nvPr/>
        </p:nvSpPr>
        <p:spPr>
          <a:xfrm>
            <a:off x="5094325" y="1541163"/>
            <a:ext cx="88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Safety </a:t>
            </a:r>
            <a:r>
              <a:rPr lang="en" sz="600">
                <a:solidFill>
                  <a:schemeClr val="dk2"/>
                </a:solidFill>
              </a:rPr>
              <a:t>function</a:t>
            </a:r>
            <a:r>
              <a:rPr lang="en" sz="600">
                <a:solidFill>
                  <a:schemeClr val="dk2"/>
                </a:solidFill>
              </a:rPr>
              <a:t> = T1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892400" y="2771780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self_test_TS [</a:t>
            </a:r>
            <a:r>
              <a:rPr lang="en" sz="1000" u="sng">
                <a:solidFill>
                  <a:schemeClr val="dk1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Initiator</a:t>
            </a:r>
            <a:r>
              <a:rPr lang="en" sz="1000" u="sng">
                <a:solidFill>
                  <a:schemeClr val="dk1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1892400" y="3208878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self_test_AL</a:t>
            </a:r>
            <a:r>
              <a:rPr lang="en" sz="1000" u="sng">
                <a:solidFill>
                  <a:schemeClr val="dk1"/>
                </a:solid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[Initiator]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1892400" y="3645977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self_test_ROT</a:t>
            </a:r>
            <a:r>
              <a:rPr lang="en" sz="1000" u="sng">
                <a:solidFill>
                  <a:schemeClr val="dk1"/>
                </a:solid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[Initiator]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1892400" y="4083076"/>
            <a:ext cx="1600500" cy="25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self_test_TSR</a:t>
            </a:r>
            <a:r>
              <a:rPr lang="en" sz="1000" u="sng">
                <a:solidFill>
                  <a:schemeClr val="dk1"/>
                </a:solidFill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[Initiator]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3493540" y="2771780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sp>
        <p:nvSpPr>
          <p:cNvPr id="326" name="Google Shape;326;p32"/>
          <p:cNvSpPr/>
          <p:nvPr/>
        </p:nvSpPr>
        <p:spPr>
          <a:xfrm>
            <a:off x="3493540" y="3208878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sp>
        <p:nvSpPr>
          <p:cNvPr id="327" name="Google Shape;327;p32"/>
          <p:cNvSpPr/>
          <p:nvPr/>
        </p:nvSpPr>
        <p:spPr>
          <a:xfrm>
            <a:off x="3493540" y="3645977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sp>
        <p:nvSpPr>
          <p:cNvPr id="328" name="Google Shape;328;p32"/>
          <p:cNvSpPr/>
          <p:nvPr/>
        </p:nvSpPr>
        <p:spPr>
          <a:xfrm>
            <a:off x="3493540" y="4083076"/>
            <a:ext cx="387900" cy="25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  <p:cxnSp>
        <p:nvCxnSpPr>
          <p:cNvPr id="329" name="Google Shape;329;p32"/>
          <p:cNvCxnSpPr>
            <a:stCxn id="289" idx="3"/>
            <a:endCxn id="321" idx="1"/>
          </p:cNvCxnSpPr>
          <p:nvPr/>
        </p:nvCxnSpPr>
        <p:spPr>
          <a:xfrm>
            <a:off x="1363810" y="1750750"/>
            <a:ext cx="528600" cy="11469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2"/>
          <p:cNvCxnSpPr>
            <a:stCxn id="289" idx="3"/>
            <a:endCxn id="322" idx="1"/>
          </p:cNvCxnSpPr>
          <p:nvPr/>
        </p:nvCxnSpPr>
        <p:spPr>
          <a:xfrm>
            <a:off x="1363810" y="1750750"/>
            <a:ext cx="528600" cy="15840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2"/>
          <p:cNvCxnSpPr>
            <a:stCxn id="289" idx="3"/>
            <a:endCxn id="323" idx="1"/>
          </p:cNvCxnSpPr>
          <p:nvPr/>
        </p:nvCxnSpPr>
        <p:spPr>
          <a:xfrm>
            <a:off x="1363810" y="1750750"/>
            <a:ext cx="528600" cy="20211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2"/>
          <p:cNvCxnSpPr>
            <a:stCxn id="289" idx="3"/>
            <a:endCxn id="324" idx="1"/>
          </p:cNvCxnSpPr>
          <p:nvPr/>
        </p:nvCxnSpPr>
        <p:spPr>
          <a:xfrm>
            <a:off x="1363810" y="1750750"/>
            <a:ext cx="528600" cy="24582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2"/>
          <p:cNvCxnSpPr>
            <a:stCxn id="289" idx="3"/>
            <a:endCxn id="293" idx="1"/>
          </p:cNvCxnSpPr>
          <p:nvPr/>
        </p:nvCxnSpPr>
        <p:spPr>
          <a:xfrm>
            <a:off x="1363810" y="1750750"/>
            <a:ext cx="534000" cy="7245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/>
          <p:nvPr/>
        </p:nvSpPr>
        <p:spPr>
          <a:xfrm>
            <a:off x="287050" y="153714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3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sp>
        <p:nvSpPr>
          <p:cNvPr id="342" name="Google Shape;342;p33"/>
          <p:cNvSpPr/>
          <p:nvPr/>
        </p:nvSpPr>
        <p:spPr>
          <a:xfrm>
            <a:off x="49975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88637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127300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165962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2046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2432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2819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32061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35927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39793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43660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47526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5139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5525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5912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0" y="0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UNIT Level Design 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TS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(S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) - Analysis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6299128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6685753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70723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745900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784562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823225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86188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0" y="153714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287050" y="1032967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0" y="1032967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287050" y="52879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3"/>
          <p:cNvSpPr/>
          <p:nvPr/>
        </p:nvSpPr>
        <p:spPr>
          <a:xfrm>
            <a:off x="0" y="52879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508998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371" name="Google Shape;371;p33"/>
          <p:cNvSpPr/>
          <p:nvPr/>
        </p:nvSpPr>
        <p:spPr>
          <a:xfrm>
            <a:off x="822250" y="1070325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Begin Transmission</a:t>
            </a:r>
            <a:endParaRPr sz="600"/>
          </a:p>
        </p:txBody>
      </p:sp>
      <p:cxnSp>
        <p:nvCxnSpPr>
          <p:cNvPr id="372" name="Google Shape;372;p33"/>
          <p:cNvCxnSpPr>
            <a:stCxn id="370" idx="0"/>
            <a:endCxn id="371" idx="1"/>
          </p:cNvCxnSpPr>
          <p:nvPr/>
        </p:nvCxnSpPr>
        <p:spPr>
          <a:xfrm rot="-5400000">
            <a:off x="586698" y="1338490"/>
            <a:ext cx="319200" cy="152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3"/>
          <p:cNvSpPr/>
          <p:nvPr/>
        </p:nvSpPr>
        <p:spPr>
          <a:xfrm>
            <a:off x="1272998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TS_V[0]</a:t>
            </a:r>
            <a:endParaRPr sz="600"/>
          </a:p>
        </p:txBody>
      </p:sp>
      <p:sp>
        <p:nvSpPr>
          <p:cNvPr id="374" name="Google Shape;374;p33"/>
          <p:cNvSpPr/>
          <p:nvPr/>
        </p:nvSpPr>
        <p:spPr>
          <a:xfrm>
            <a:off x="1285325" y="1070325"/>
            <a:ext cx="3016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375" name="Google Shape;375;p33"/>
          <p:cNvSpPr/>
          <p:nvPr/>
        </p:nvSpPr>
        <p:spPr>
          <a:xfrm>
            <a:off x="1707951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TS_V[1]</a:t>
            </a:r>
            <a:endParaRPr sz="600"/>
          </a:p>
        </p:txBody>
      </p:sp>
      <p:sp>
        <p:nvSpPr>
          <p:cNvPr id="376" name="Google Shape;376;p33"/>
          <p:cNvSpPr/>
          <p:nvPr/>
        </p:nvSpPr>
        <p:spPr>
          <a:xfrm>
            <a:off x="2142904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TS_V[2]</a:t>
            </a:r>
            <a:endParaRPr sz="600"/>
          </a:p>
        </p:txBody>
      </p:sp>
      <p:sp>
        <p:nvSpPr>
          <p:cNvPr id="377" name="Google Shape;377;p33"/>
          <p:cNvSpPr/>
          <p:nvPr/>
        </p:nvSpPr>
        <p:spPr>
          <a:xfrm>
            <a:off x="257785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TS_V[3]</a:t>
            </a:r>
            <a:endParaRPr sz="600"/>
          </a:p>
        </p:txBody>
      </p:sp>
      <p:sp>
        <p:nvSpPr>
          <p:cNvPr id="378" name="Google Shape;378;p33"/>
          <p:cNvSpPr/>
          <p:nvPr/>
        </p:nvSpPr>
        <p:spPr>
          <a:xfrm>
            <a:off x="3012810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TS_V[4]</a:t>
            </a:r>
            <a:endParaRPr sz="600"/>
          </a:p>
        </p:txBody>
      </p:sp>
      <p:sp>
        <p:nvSpPr>
          <p:cNvPr id="379" name="Google Shape;379;p33"/>
          <p:cNvSpPr/>
          <p:nvPr/>
        </p:nvSpPr>
        <p:spPr>
          <a:xfrm>
            <a:off x="388271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TS_V[9]</a:t>
            </a:r>
            <a:endParaRPr sz="600"/>
          </a:p>
        </p:txBody>
      </p:sp>
      <p:cxnSp>
        <p:nvCxnSpPr>
          <p:cNvPr id="380" name="Google Shape;380;p33"/>
          <p:cNvCxnSpPr/>
          <p:nvPr/>
        </p:nvCxnSpPr>
        <p:spPr>
          <a:xfrm flipH="1">
            <a:off x="1458263" y="891475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33"/>
          <p:cNvCxnSpPr/>
          <p:nvPr/>
        </p:nvCxnSpPr>
        <p:spPr>
          <a:xfrm flipH="1">
            <a:off x="1886960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33"/>
          <p:cNvCxnSpPr/>
          <p:nvPr/>
        </p:nvCxnSpPr>
        <p:spPr>
          <a:xfrm flipH="1">
            <a:off x="2315949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33"/>
          <p:cNvCxnSpPr/>
          <p:nvPr/>
        </p:nvCxnSpPr>
        <p:spPr>
          <a:xfrm flipH="1">
            <a:off x="2744646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3"/>
          <p:cNvCxnSpPr/>
          <p:nvPr/>
        </p:nvCxnSpPr>
        <p:spPr>
          <a:xfrm flipH="1">
            <a:off x="3181197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3"/>
          <p:cNvCxnSpPr/>
          <p:nvPr/>
        </p:nvCxnSpPr>
        <p:spPr>
          <a:xfrm flipH="1">
            <a:off x="4038883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p33"/>
          <p:cNvSpPr/>
          <p:nvPr/>
        </p:nvSpPr>
        <p:spPr>
          <a:xfrm>
            <a:off x="4758607" y="1070315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Test_TS_T</a:t>
            </a:r>
            <a:endParaRPr sz="600"/>
          </a:p>
        </p:txBody>
      </p:sp>
      <p:sp>
        <p:nvSpPr>
          <p:cNvPr id="387" name="Google Shape;387;p33"/>
          <p:cNvSpPr/>
          <p:nvPr/>
        </p:nvSpPr>
        <p:spPr>
          <a:xfrm>
            <a:off x="4758607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Test_TS_I</a:t>
            </a:r>
            <a:endParaRPr sz="600"/>
          </a:p>
        </p:txBody>
      </p:sp>
      <p:sp>
        <p:nvSpPr>
          <p:cNvPr id="388" name="Google Shape;388;p33"/>
          <p:cNvSpPr/>
          <p:nvPr/>
        </p:nvSpPr>
        <p:spPr>
          <a:xfrm>
            <a:off x="4365974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389" name="Google Shape;389;p33"/>
          <p:cNvCxnSpPr>
            <a:stCxn id="374" idx="3"/>
            <a:endCxn id="388" idx="1"/>
          </p:cNvCxnSpPr>
          <p:nvPr/>
        </p:nvCxnSpPr>
        <p:spPr>
          <a:xfrm>
            <a:off x="4301825" y="1254975"/>
            <a:ext cx="64200" cy="503700"/>
          </a:xfrm>
          <a:prstGeom prst="curvedConnector3">
            <a:avLst>
              <a:gd fmla="val 499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3"/>
          <p:cNvCxnSpPr>
            <a:stCxn id="374" idx="3"/>
            <a:endCxn id="386" idx="1"/>
          </p:cNvCxnSpPr>
          <p:nvPr/>
        </p:nvCxnSpPr>
        <p:spPr>
          <a:xfrm>
            <a:off x="4301825" y="1254975"/>
            <a:ext cx="4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3"/>
          <p:cNvCxnSpPr>
            <a:stCxn id="388" idx="3"/>
            <a:endCxn id="388" idx="3"/>
          </p:cNvCxnSpPr>
          <p:nvPr/>
        </p:nvCxnSpPr>
        <p:spPr>
          <a:xfrm>
            <a:off x="4688474" y="175879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3"/>
          <p:cNvCxnSpPr>
            <a:stCxn id="378" idx="3"/>
            <a:endCxn id="379" idx="1"/>
          </p:cNvCxnSpPr>
          <p:nvPr/>
        </p:nvCxnSpPr>
        <p:spPr>
          <a:xfrm>
            <a:off x="3335310" y="788140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3"/>
          <p:cNvSpPr/>
          <p:nvPr/>
        </p:nvSpPr>
        <p:spPr>
          <a:xfrm>
            <a:off x="5146085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394" name="Google Shape;394;p33"/>
          <p:cNvSpPr/>
          <p:nvPr/>
        </p:nvSpPr>
        <p:spPr>
          <a:xfrm>
            <a:off x="5464386" y="1070313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Begin Transmission</a:t>
            </a:r>
            <a:endParaRPr sz="500"/>
          </a:p>
        </p:txBody>
      </p:sp>
      <p:sp>
        <p:nvSpPr>
          <p:cNvPr id="395" name="Google Shape;395;p33"/>
          <p:cNvSpPr/>
          <p:nvPr/>
        </p:nvSpPr>
        <p:spPr>
          <a:xfrm>
            <a:off x="5910085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TS_V[0]</a:t>
            </a:r>
            <a:endParaRPr sz="600"/>
          </a:p>
        </p:txBody>
      </p:sp>
      <p:sp>
        <p:nvSpPr>
          <p:cNvPr id="396" name="Google Shape;396;p33"/>
          <p:cNvSpPr/>
          <p:nvPr/>
        </p:nvSpPr>
        <p:spPr>
          <a:xfrm>
            <a:off x="5922421" y="1083825"/>
            <a:ext cx="2056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397" name="Google Shape;397;p33"/>
          <p:cNvSpPr/>
          <p:nvPr/>
        </p:nvSpPr>
        <p:spPr>
          <a:xfrm>
            <a:off x="6345038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TS_V[1]</a:t>
            </a:r>
            <a:endParaRPr sz="600"/>
          </a:p>
        </p:txBody>
      </p:sp>
      <p:sp>
        <p:nvSpPr>
          <p:cNvPr id="398" name="Google Shape;398;p33"/>
          <p:cNvSpPr/>
          <p:nvPr/>
        </p:nvSpPr>
        <p:spPr>
          <a:xfrm>
            <a:off x="6779992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TS_V[2]</a:t>
            </a:r>
            <a:endParaRPr sz="600"/>
          </a:p>
        </p:txBody>
      </p:sp>
      <p:sp>
        <p:nvSpPr>
          <p:cNvPr id="399" name="Google Shape;399;p33"/>
          <p:cNvSpPr/>
          <p:nvPr/>
        </p:nvSpPr>
        <p:spPr>
          <a:xfrm>
            <a:off x="7656766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TS_V[9]</a:t>
            </a:r>
            <a:endParaRPr sz="600"/>
          </a:p>
        </p:txBody>
      </p:sp>
      <p:cxnSp>
        <p:nvCxnSpPr>
          <p:cNvPr id="400" name="Google Shape;400;p33"/>
          <p:cNvCxnSpPr/>
          <p:nvPr/>
        </p:nvCxnSpPr>
        <p:spPr>
          <a:xfrm flipH="1">
            <a:off x="6095350" y="904969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3"/>
          <p:cNvCxnSpPr/>
          <p:nvPr/>
        </p:nvCxnSpPr>
        <p:spPr>
          <a:xfrm flipH="1">
            <a:off x="6524048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33"/>
          <p:cNvCxnSpPr/>
          <p:nvPr/>
        </p:nvCxnSpPr>
        <p:spPr>
          <a:xfrm flipH="1">
            <a:off x="6953036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3"/>
          <p:cNvCxnSpPr/>
          <p:nvPr/>
        </p:nvCxnSpPr>
        <p:spPr>
          <a:xfrm flipH="1">
            <a:off x="7844507" y="904387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33"/>
          <p:cNvSpPr/>
          <p:nvPr/>
        </p:nvSpPr>
        <p:spPr>
          <a:xfrm>
            <a:off x="8627380" y="1083809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Test_TS_I</a:t>
            </a:r>
            <a:endParaRPr sz="600"/>
          </a:p>
        </p:txBody>
      </p:sp>
      <p:sp>
        <p:nvSpPr>
          <p:cNvPr id="405" name="Google Shape;405;p33"/>
          <p:cNvSpPr/>
          <p:nvPr/>
        </p:nvSpPr>
        <p:spPr>
          <a:xfrm>
            <a:off x="8627380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Test_TS_I</a:t>
            </a:r>
            <a:endParaRPr sz="600"/>
          </a:p>
        </p:txBody>
      </p:sp>
      <p:sp>
        <p:nvSpPr>
          <p:cNvPr id="406" name="Google Shape;406;p33"/>
          <p:cNvSpPr/>
          <p:nvPr/>
        </p:nvSpPr>
        <p:spPr>
          <a:xfrm>
            <a:off x="8234747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407" name="Google Shape;407;p33"/>
          <p:cNvCxnSpPr>
            <a:stCxn id="408" idx="3"/>
            <a:endCxn id="399" idx="1"/>
          </p:cNvCxnSpPr>
          <p:nvPr/>
        </p:nvCxnSpPr>
        <p:spPr>
          <a:xfrm>
            <a:off x="7109266" y="801634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33"/>
          <p:cNvSpPr/>
          <p:nvPr/>
        </p:nvSpPr>
        <p:spPr>
          <a:xfrm>
            <a:off x="6780010" y="1588147"/>
            <a:ext cx="322500" cy="36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</a:t>
            </a:r>
            <a:endParaRPr sz="600"/>
          </a:p>
        </p:txBody>
      </p:sp>
      <p:cxnSp>
        <p:nvCxnSpPr>
          <p:cNvPr id="410" name="Google Shape;410;p33"/>
          <p:cNvCxnSpPr>
            <a:stCxn id="396" idx="3"/>
            <a:endCxn id="404" idx="1"/>
          </p:cNvCxnSpPr>
          <p:nvPr/>
        </p:nvCxnSpPr>
        <p:spPr>
          <a:xfrm>
            <a:off x="7979221" y="1268475"/>
            <a:ext cx="64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3"/>
          <p:cNvCxnSpPr>
            <a:stCxn id="406" idx="3"/>
            <a:endCxn id="405" idx="1"/>
          </p:cNvCxnSpPr>
          <p:nvPr/>
        </p:nvCxnSpPr>
        <p:spPr>
          <a:xfrm>
            <a:off x="8557247" y="1772284"/>
            <a:ext cx="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3"/>
          <p:cNvCxnSpPr>
            <a:stCxn id="396" idx="3"/>
            <a:endCxn id="406" idx="1"/>
          </p:cNvCxnSpPr>
          <p:nvPr/>
        </p:nvCxnSpPr>
        <p:spPr>
          <a:xfrm>
            <a:off x="7979221" y="1268475"/>
            <a:ext cx="255600" cy="503700"/>
          </a:xfrm>
          <a:prstGeom prst="curved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33"/>
          <p:cNvSpPr/>
          <p:nvPr/>
        </p:nvSpPr>
        <p:spPr>
          <a:xfrm>
            <a:off x="5004125" y="1157073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414" name="Google Shape;414;p33"/>
          <p:cNvSpPr/>
          <p:nvPr/>
        </p:nvSpPr>
        <p:spPr>
          <a:xfrm>
            <a:off x="5004125" y="1587648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415" name="Google Shape;415;p33"/>
          <p:cNvSpPr/>
          <p:nvPr/>
        </p:nvSpPr>
        <p:spPr>
          <a:xfrm>
            <a:off x="8856850" y="1131823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416" name="Google Shape;416;p33"/>
          <p:cNvSpPr/>
          <p:nvPr/>
        </p:nvSpPr>
        <p:spPr>
          <a:xfrm>
            <a:off x="8856850" y="1638448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417" name="Google Shape;417;p33"/>
          <p:cNvSpPr txBox="1"/>
          <p:nvPr/>
        </p:nvSpPr>
        <p:spPr>
          <a:xfrm>
            <a:off x="69225" y="2368725"/>
            <a:ext cx="8916000" cy="24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SW Design Explanation</a:t>
            </a:r>
            <a:endParaRPr sz="10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Initialize the system.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Establish I²C communication between Initiator and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configures switch(M74HC4066B1) for normal sensor mode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MCP9808 temperature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MCP9808 temperature readings remain within the specified range, therefore, the test passes.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injects fault condition (e.g., SDA line fault)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MCP9808 temperature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or error status back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MCP9808 temperature samples are outside the specified range or contain NaN values, therefore, the test fails.</a:t>
            </a:r>
            <a:endParaRPr sz="6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489088" y="13781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1</a:t>
            </a:r>
            <a:endParaRPr sz="600"/>
          </a:p>
        </p:txBody>
      </p:sp>
      <p:sp>
        <p:nvSpPr>
          <p:cNvPr id="419" name="Google Shape;419;p33"/>
          <p:cNvSpPr/>
          <p:nvPr/>
        </p:nvSpPr>
        <p:spPr>
          <a:xfrm>
            <a:off x="1093588" y="7075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5</a:t>
            </a:r>
            <a:endParaRPr sz="600"/>
          </a:p>
        </p:txBody>
      </p:sp>
      <p:sp>
        <p:nvSpPr>
          <p:cNvPr id="420" name="Google Shape;420;p33"/>
          <p:cNvSpPr/>
          <p:nvPr/>
        </p:nvSpPr>
        <p:spPr>
          <a:xfrm>
            <a:off x="4163263" y="1462666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7</a:t>
            </a:r>
            <a:endParaRPr sz="600"/>
          </a:p>
        </p:txBody>
      </p:sp>
      <p:sp>
        <p:nvSpPr>
          <p:cNvPr id="421" name="Google Shape;421;p33"/>
          <p:cNvSpPr/>
          <p:nvPr/>
        </p:nvSpPr>
        <p:spPr>
          <a:xfrm>
            <a:off x="5054513" y="14127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8</a:t>
            </a:r>
            <a:endParaRPr sz="600"/>
          </a:p>
        </p:txBody>
      </p:sp>
      <p:sp>
        <p:nvSpPr>
          <p:cNvPr id="422" name="Google Shape;422;p33"/>
          <p:cNvSpPr/>
          <p:nvPr/>
        </p:nvSpPr>
        <p:spPr>
          <a:xfrm>
            <a:off x="6568213" y="17169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9</a:t>
            </a:r>
            <a:endParaRPr sz="600"/>
          </a:p>
        </p:txBody>
      </p:sp>
      <p:sp>
        <p:nvSpPr>
          <p:cNvPr id="423" name="Google Shape;423;p33"/>
          <p:cNvSpPr txBox="1"/>
          <p:nvPr/>
        </p:nvSpPr>
        <p:spPr>
          <a:xfrm>
            <a:off x="6803175" y="2975450"/>
            <a:ext cx="386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642838" y="10198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3</a:t>
            </a:r>
            <a:endParaRPr sz="600"/>
          </a:p>
        </p:txBody>
      </p:sp>
      <p:sp>
        <p:nvSpPr>
          <p:cNvPr id="425" name="Google Shape;425;p33"/>
          <p:cNvSpPr/>
          <p:nvPr/>
        </p:nvSpPr>
        <p:spPr>
          <a:xfrm>
            <a:off x="8911387" y="141423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14</a:t>
            </a:r>
            <a:endParaRPr sz="400"/>
          </a:p>
        </p:txBody>
      </p:sp>
      <p:sp>
        <p:nvSpPr>
          <p:cNvPr id="426" name="Google Shape;426;p33"/>
          <p:cNvSpPr/>
          <p:nvPr/>
        </p:nvSpPr>
        <p:spPr>
          <a:xfrm>
            <a:off x="5634187" y="70758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11</a:t>
            </a:r>
            <a:endParaRPr sz="400"/>
          </a:p>
        </p:txBody>
      </p:sp>
      <p:sp>
        <p:nvSpPr>
          <p:cNvPr id="427" name="Google Shape;427;p33"/>
          <p:cNvSpPr/>
          <p:nvPr/>
        </p:nvSpPr>
        <p:spPr>
          <a:xfrm>
            <a:off x="5204987" y="116093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10</a:t>
            </a:r>
            <a:endParaRPr sz="400"/>
          </a:p>
        </p:txBody>
      </p:sp>
      <p:sp>
        <p:nvSpPr>
          <p:cNvPr id="428" name="Google Shape;428;p33"/>
          <p:cNvSpPr/>
          <p:nvPr/>
        </p:nvSpPr>
        <p:spPr>
          <a:xfrm>
            <a:off x="7961062" y="171698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12</a:t>
            </a:r>
            <a:endParaRPr sz="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/>
          <p:nvPr/>
        </p:nvSpPr>
        <p:spPr>
          <a:xfrm>
            <a:off x="287050" y="153714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4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>
            <a:off x="49975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88637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127300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165962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2046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2432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2819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32061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35927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39793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43660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47526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5139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5525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5912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0" y="0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UNIT Level Design 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(S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) - Analysis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6299128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6685753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70723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745900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784562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823225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86188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0" y="153714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461" name="Google Shape;461;p34"/>
          <p:cNvSpPr/>
          <p:nvPr/>
        </p:nvSpPr>
        <p:spPr>
          <a:xfrm>
            <a:off x="287050" y="1032967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4"/>
          <p:cNvSpPr/>
          <p:nvPr/>
        </p:nvSpPr>
        <p:spPr>
          <a:xfrm>
            <a:off x="0" y="1032967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287050" y="52879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>
            <a:off x="0" y="52879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508998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466" name="Google Shape;466;p34"/>
          <p:cNvSpPr/>
          <p:nvPr/>
        </p:nvSpPr>
        <p:spPr>
          <a:xfrm>
            <a:off x="822250" y="1070325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Begin Transmission</a:t>
            </a:r>
            <a:endParaRPr sz="600"/>
          </a:p>
        </p:txBody>
      </p:sp>
      <p:cxnSp>
        <p:nvCxnSpPr>
          <p:cNvPr id="467" name="Google Shape;467;p34"/>
          <p:cNvCxnSpPr>
            <a:stCxn id="465" idx="0"/>
            <a:endCxn id="466" idx="1"/>
          </p:cNvCxnSpPr>
          <p:nvPr/>
        </p:nvCxnSpPr>
        <p:spPr>
          <a:xfrm rot="-5400000">
            <a:off x="586698" y="1338490"/>
            <a:ext cx="319200" cy="152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34"/>
          <p:cNvSpPr/>
          <p:nvPr/>
        </p:nvSpPr>
        <p:spPr>
          <a:xfrm>
            <a:off x="1272998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V[0]</a:t>
            </a:r>
            <a:endParaRPr sz="600"/>
          </a:p>
        </p:txBody>
      </p:sp>
      <p:sp>
        <p:nvSpPr>
          <p:cNvPr id="469" name="Google Shape;469;p34"/>
          <p:cNvSpPr/>
          <p:nvPr/>
        </p:nvSpPr>
        <p:spPr>
          <a:xfrm>
            <a:off x="1285325" y="1070325"/>
            <a:ext cx="3016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470" name="Google Shape;470;p34"/>
          <p:cNvSpPr/>
          <p:nvPr/>
        </p:nvSpPr>
        <p:spPr>
          <a:xfrm>
            <a:off x="1707951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_V[1]</a:t>
            </a:r>
            <a:endParaRPr sz="600"/>
          </a:p>
        </p:txBody>
      </p:sp>
      <p:sp>
        <p:nvSpPr>
          <p:cNvPr id="471" name="Google Shape;471;p34"/>
          <p:cNvSpPr/>
          <p:nvPr/>
        </p:nvSpPr>
        <p:spPr>
          <a:xfrm>
            <a:off x="2142904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_V[2]</a:t>
            </a:r>
            <a:endParaRPr sz="600"/>
          </a:p>
        </p:txBody>
      </p:sp>
      <p:sp>
        <p:nvSpPr>
          <p:cNvPr id="472" name="Google Shape;472;p34"/>
          <p:cNvSpPr/>
          <p:nvPr/>
        </p:nvSpPr>
        <p:spPr>
          <a:xfrm>
            <a:off x="257785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_V[3]</a:t>
            </a:r>
            <a:endParaRPr sz="600"/>
          </a:p>
        </p:txBody>
      </p:sp>
      <p:sp>
        <p:nvSpPr>
          <p:cNvPr id="473" name="Google Shape;473;p34"/>
          <p:cNvSpPr/>
          <p:nvPr/>
        </p:nvSpPr>
        <p:spPr>
          <a:xfrm>
            <a:off x="3012810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_V[4]</a:t>
            </a:r>
            <a:endParaRPr sz="600"/>
          </a:p>
        </p:txBody>
      </p:sp>
      <p:sp>
        <p:nvSpPr>
          <p:cNvPr id="474" name="Google Shape;474;p34"/>
          <p:cNvSpPr/>
          <p:nvPr/>
        </p:nvSpPr>
        <p:spPr>
          <a:xfrm>
            <a:off x="388271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_V[9]</a:t>
            </a:r>
            <a:endParaRPr sz="600"/>
          </a:p>
        </p:txBody>
      </p:sp>
      <p:cxnSp>
        <p:nvCxnSpPr>
          <p:cNvPr id="475" name="Google Shape;475;p34"/>
          <p:cNvCxnSpPr/>
          <p:nvPr/>
        </p:nvCxnSpPr>
        <p:spPr>
          <a:xfrm flipH="1">
            <a:off x="1458263" y="891475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34"/>
          <p:cNvCxnSpPr/>
          <p:nvPr/>
        </p:nvCxnSpPr>
        <p:spPr>
          <a:xfrm flipH="1">
            <a:off x="1886960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34"/>
          <p:cNvCxnSpPr/>
          <p:nvPr/>
        </p:nvCxnSpPr>
        <p:spPr>
          <a:xfrm flipH="1">
            <a:off x="2315949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34"/>
          <p:cNvCxnSpPr/>
          <p:nvPr/>
        </p:nvCxnSpPr>
        <p:spPr>
          <a:xfrm flipH="1">
            <a:off x="2744646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34"/>
          <p:cNvCxnSpPr/>
          <p:nvPr/>
        </p:nvCxnSpPr>
        <p:spPr>
          <a:xfrm flipH="1">
            <a:off x="3181197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34"/>
          <p:cNvCxnSpPr/>
          <p:nvPr/>
        </p:nvCxnSpPr>
        <p:spPr>
          <a:xfrm flipH="1">
            <a:off x="4038883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" name="Google Shape;481;p34"/>
          <p:cNvSpPr/>
          <p:nvPr/>
        </p:nvSpPr>
        <p:spPr>
          <a:xfrm>
            <a:off x="4758607" y="1070315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Test_TS_T</a:t>
            </a:r>
            <a:endParaRPr sz="600"/>
          </a:p>
        </p:txBody>
      </p:sp>
      <p:sp>
        <p:nvSpPr>
          <p:cNvPr id="482" name="Google Shape;482;p34"/>
          <p:cNvSpPr/>
          <p:nvPr/>
        </p:nvSpPr>
        <p:spPr>
          <a:xfrm>
            <a:off x="4758607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Test_TS_I</a:t>
            </a:r>
            <a:endParaRPr sz="600"/>
          </a:p>
        </p:txBody>
      </p:sp>
      <p:sp>
        <p:nvSpPr>
          <p:cNvPr id="483" name="Google Shape;483;p34"/>
          <p:cNvSpPr/>
          <p:nvPr/>
        </p:nvSpPr>
        <p:spPr>
          <a:xfrm>
            <a:off x="4365974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484" name="Google Shape;484;p34"/>
          <p:cNvCxnSpPr>
            <a:stCxn id="469" idx="3"/>
            <a:endCxn id="483" idx="1"/>
          </p:cNvCxnSpPr>
          <p:nvPr/>
        </p:nvCxnSpPr>
        <p:spPr>
          <a:xfrm>
            <a:off x="4301825" y="1254975"/>
            <a:ext cx="64200" cy="503700"/>
          </a:xfrm>
          <a:prstGeom prst="curvedConnector3">
            <a:avLst>
              <a:gd fmla="val 499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4"/>
          <p:cNvCxnSpPr>
            <a:stCxn id="469" idx="3"/>
            <a:endCxn id="481" idx="1"/>
          </p:cNvCxnSpPr>
          <p:nvPr/>
        </p:nvCxnSpPr>
        <p:spPr>
          <a:xfrm>
            <a:off x="4301825" y="1254975"/>
            <a:ext cx="4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4"/>
          <p:cNvCxnSpPr>
            <a:stCxn id="483" idx="3"/>
            <a:endCxn id="483" idx="3"/>
          </p:cNvCxnSpPr>
          <p:nvPr/>
        </p:nvCxnSpPr>
        <p:spPr>
          <a:xfrm>
            <a:off x="4688474" y="175879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4"/>
          <p:cNvCxnSpPr>
            <a:stCxn id="473" idx="3"/>
            <a:endCxn id="474" idx="1"/>
          </p:cNvCxnSpPr>
          <p:nvPr/>
        </p:nvCxnSpPr>
        <p:spPr>
          <a:xfrm>
            <a:off x="3335310" y="788140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34"/>
          <p:cNvSpPr/>
          <p:nvPr/>
        </p:nvSpPr>
        <p:spPr>
          <a:xfrm>
            <a:off x="5146085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489" name="Google Shape;489;p34"/>
          <p:cNvSpPr/>
          <p:nvPr/>
        </p:nvSpPr>
        <p:spPr>
          <a:xfrm>
            <a:off x="5464386" y="1070313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Begin Transmission</a:t>
            </a:r>
            <a:endParaRPr sz="500"/>
          </a:p>
        </p:txBody>
      </p:sp>
      <p:sp>
        <p:nvSpPr>
          <p:cNvPr id="490" name="Google Shape;490;p34"/>
          <p:cNvSpPr/>
          <p:nvPr/>
        </p:nvSpPr>
        <p:spPr>
          <a:xfrm>
            <a:off x="5910085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_V[0]</a:t>
            </a:r>
            <a:endParaRPr sz="600"/>
          </a:p>
        </p:txBody>
      </p:sp>
      <p:sp>
        <p:nvSpPr>
          <p:cNvPr id="491" name="Google Shape;491;p34"/>
          <p:cNvSpPr/>
          <p:nvPr/>
        </p:nvSpPr>
        <p:spPr>
          <a:xfrm>
            <a:off x="5922421" y="1083825"/>
            <a:ext cx="2056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492" name="Google Shape;492;p34"/>
          <p:cNvSpPr/>
          <p:nvPr/>
        </p:nvSpPr>
        <p:spPr>
          <a:xfrm>
            <a:off x="6345038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_V[1]</a:t>
            </a:r>
            <a:endParaRPr sz="600"/>
          </a:p>
        </p:txBody>
      </p:sp>
      <p:sp>
        <p:nvSpPr>
          <p:cNvPr id="493" name="Google Shape;493;p34"/>
          <p:cNvSpPr/>
          <p:nvPr/>
        </p:nvSpPr>
        <p:spPr>
          <a:xfrm>
            <a:off x="6779992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_V[2]</a:t>
            </a:r>
            <a:endParaRPr sz="600"/>
          </a:p>
        </p:txBody>
      </p:sp>
      <p:sp>
        <p:nvSpPr>
          <p:cNvPr id="494" name="Google Shape;494;p34"/>
          <p:cNvSpPr/>
          <p:nvPr/>
        </p:nvSpPr>
        <p:spPr>
          <a:xfrm>
            <a:off x="7656766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AL</a:t>
            </a:r>
            <a:r>
              <a:rPr lang="en" sz="600"/>
              <a:t>_V[9]</a:t>
            </a:r>
            <a:endParaRPr sz="600"/>
          </a:p>
        </p:txBody>
      </p:sp>
      <p:cxnSp>
        <p:nvCxnSpPr>
          <p:cNvPr id="495" name="Google Shape;495;p34"/>
          <p:cNvCxnSpPr/>
          <p:nvPr/>
        </p:nvCxnSpPr>
        <p:spPr>
          <a:xfrm flipH="1">
            <a:off x="6095350" y="904969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34"/>
          <p:cNvCxnSpPr/>
          <p:nvPr/>
        </p:nvCxnSpPr>
        <p:spPr>
          <a:xfrm flipH="1">
            <a:off x="6524048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34"/>
          <p:cNvCxnSpPr/>
          <p:nvPr/>
        </p:nvCxnSpPr>
        <p:spPr>
          <a:xfrm flipH="1">
            <a:off x="6953036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34"/>
          <p:cNvCxnSpPr/>
          <p:nvPr/>
        </p:nvCxnSpPr>
        <p:spPr>
          <a:xfrm flipH="1">
            <a:off x="7844507" y="904387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34"/>
          <p:cNvSpPr/>
          <p:nvPr/>
        </p:nvSpPr>
        <p:spPr>
          <a:xfrm>
            <a:off x="8627380" y="1083809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Test_AL_I</a:t>
            </a:r>
            <a:endParaRPr sz="600"/>
          </a:p>
        </p:txBody>
      </p:sp>
      <p:sp>
        <p:nvSpPr>
          <p:cNvPr id="500" name="Google Shape;500;p34"/>
          <p:cNvSpPr/>
          <p:nvPr/>
        </p:nvSpPr>
        <p:spPr>
          <a:xfrm>
            <a:off x="8627380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Test_AL_I</a:t>
            </a:r>
            <a:endParaRPr sz="600"/>
          </a:p>
        </p:txBody>
      </p:sp>
      <p:sp>
        <p:nvSpPr>
          <p:cNvPr id="501" name="Google Shape;501;p34"/>
          <p:cNvSpPr/>
          <p:nvPr/>
        </p:nvSpPr>
        <p:spPr>
          <a:xfrm>
            <a:off x="8234747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502" name="Google Shape;502;p34"/>
          <p:cNvCxnSpPr>
            <a:stCxn id="503" idx="3"/>
            <a:endCxn id="494" idx="1"/>
          </p:cNvCxnSpPr>
          <p:nvPr/>
        </p:nvCxnSpPr>
        <p:spPr>
          <a:xfrm>
            <a:off x="7109266" y="801634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34"/>
          <p:cNvSpPr/>
          <p:nvPr/>
        </p:nvSpPr>
        <p:spPr>
          <a:xfrm>
            <a:off x="6780010" y="1588147"/>
            <a:ext cx="322500" cy="36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</a:t>
            </a:r>
            <a:endParaRPr sz="600"/>
          </a:p>
        </p:txBody>
      </p:sp>
      <p:cxnSp>
        <p:nvCxnSpPr>
          <p:cNvPr id="505" name="Google Shape;505;p34"/>
          <p:cNvCxnSpPr>
            <a:stCxn id="491" idx="3"/>
            <a:endCxn id="499" idx="1"/>
          </p:cNvCxnSpPr>
          <p:nvPr/>
        </p:nvCxnSpPr>
        <p:spPr>
          <a:xfrm>
            <a:off x="7979221" y="1268475"/>
            <a:ext cx="64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4"/>
          <p:cNvCxnSpPr>
            <a:stCxn id="501" idx="3"/>
            <a:endCxn id="500" idx="1"/>
          </p:cNvCxnSpPr>
          <p:nvPr/>
        </p:nvCxnSpPr>
        <p:spPr>
          <a:xfrm>
            <a:off x="8557247" y="1772284"/>
            <a:ext cx="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4"/>
          <p:cNvCxnSpPr>
            <a:stCxn id="491" idx="3"/>
            <a:endCxn id="501" idx="1"/>
          </p:cNvCxnSpPr>
          <p:nvPr/>
        </p:nvCxnSpPr>
        <p:spPr>
          <a:xfrm>
            <a:off x="7979221" y="1268475"/>
            <a:ext cx="255600" cy="503700"/>
          </a:xfrm>
          <a:prstGeom prst="curved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4"/>
          <p:cNvSpPr/>
          <p:nvPr/>
        </p:nvSpPr>
        <p:spPr>
          <a:xfrm>
            <a:off x="5004125" y="1157073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509" name="Google Shape;509;p34"/>
          <p:cNvSpPr/>
          <p:nvPr/>
        </p:nvSpPr>
        <p:spPr>
          <a:xfrm>
            <a:off x="5004125" y="1587648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510" name="Google Shape;510;p34"/>
          <p:cNvSpPr/>
          <p:nvPr/>
        </p:nvSpPr>
        <p:spPr>
          <a:xfrm>
            <a:off x="8856850" y="1131823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511" name="Google Shape;511;p34"/>
          <p:cNvSpPr/>
          <p:nvPr/>
        </p:nvSpPr>
        <p:spPr>
          <a:xfrm>
            <a:off x="8856850" y="1638448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512" name="Google Shape;512;p34"/>
          <p:cNvSpPr txBox="1"/>
          <p:nvPr/>
        </p:nvSpPr>
        <p:spPr>
          <a:xfrm>
            <a:off x="69225" y="2368725"/>
            <a:ext cx="8916000" cy="24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SW Design Explanation</a:t>
            </a:r>
            <a:endParaRPr sz="10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Initialize the system.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Establish I²C communication between Initiator and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configures switch(M74HC4066B1) for normal sensor mode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TSL2591 Ambient light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 readings remain within the specified range, therefore, the test passes.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injects fault condition (e.g., SDA line fault)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or error status back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 samples are outside the specified range or contain NaN values, therefore, the test fails.</a:t>
            </a:r>
            <a:endParaRPr sz="6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4"/>
          <p:cNvSpPr/>
          <p:nvPr/>
        </p:nvSpPr>
        <p:spPr>
          <a:xfrm>
            <a:off x="489088" y="13781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1</a:t>
            </a:r>
            <a:endParaRPr sz="600"/>
          </a:p>
        </p:txBody>
      </p:sp>
      <p:sp>
        <p:nvSpPr>
          <p:cNvPr id="514" name="Google Shape;514;p34"/>
          <p:cNvSpPr/>
          <p:nvPr/>
        </p:nvSpPr>
        <p:spPr>
          <a:xfrm>
            <a:off x="1093588" y="7075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5</a:t>
            </a:r>
            <a:endParaRPr sz="600"/>
          </a:p>
        </p:txBody>
      </p:sp>
      <p:sp>
        <p:nvSpPr>
          <p:cNvPr id="515" name="Google Shape;515;p34"/>
          <p:cNvSpPr/>
          <p:nvPr/>
        </p:nvSpPr>
        <p:spPr>
          <a:xfrm>
            <a:off x="4163263" y="1462666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7</a:t>
            </a:r>
            <a:endParaRPr sz="600"/>
          </a:p>
        </p:txBody>
      </p:sp>
      <p:sp>
        <p:nvSpPr>
          <p:cNvPr id="516" name="Google Shape;516;p34"/>
          <p:cNvSpPr/>
          <p:nvPr/>
        </p:nvSpPr>
        <p:spPr>
          <a:xfrm>
            <a:off x="5054513" y="14127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8</a:t>
            </a:r>
            <a:endParaRPr sz="600"/>
          </a:p>
        </p:txBody>
      </p:sp>
      <p:sp>
        <p:nvSpPr>
          <p:cNvPr id="517" name="Google Shape;517;p34"/>
          <p:cNvSpPr/>
          <p:nvPr/>
        </p:nvSpPr>
        <p:spPr>
          <a:xfrm>
            <a:off x="6568213" y="17169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9</a:t>
            </a:r>
            <a:endParaRPr sz="600"/>
          </a:p>
        </p:txBody>
      </p:sp>
      <p:sp>
        <p:nvSpPr>
          <p:cNvPr id="518" name="Google Shape;518;p34"/>
          <p:cNvSpPr txBox="1"/>
          <p:nvPr/>
        </p:nvSpPr>
        <p:spPr>
          <a:xfrm>
            <a:off x="6803175" y="2975450"/>
            <a:ext cx="386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642838" y="10198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3</a:t>
            </a:r>
            <a:endParaRPr sz="600"/>
          </a:p>
        </p:txBody>
      </p:sp>
      <p:sp>
        <p:nvSpPr>
          <p:cNvPr id="520" name="Google Shape;520;p34"/>
          <p:cNvSpPr/>
          <p:nvPr/>
        </p:nvSpPr>
        <p:spPr>
          <a:xfrm>
            <a:off x="8911387" y="141423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14</a:t>
            </a:r>
            <a:endParaRPr sz="400"/>
          </a:p>
        </p:txBody>
      </p:sp>
      <p:sp>
        <p:nvSpPr>
          <p:cNvPr id="521" name="Google Shape;521;p34"/>
          <p:cNvSpPr/>
          <p:nvPr/>
        </p:nvSpPr>
        <p:spPr>
          <a:xfrm>
            <a:off x="5634200" y="70758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11</a:t>
            </a:r>
            <a:endParaRPr sz="400"/>
          </a:p>
        </p:txBody>
      </p:sp>
      <p:sp>
        <p:nvSpPr>
          <p:cNvPr id="522" name="Google Shape;522;p34"/>
          <p:cNvSpPr/>
          <p:nvPr/>
        </p:nvSpPr>
        <p:spPr>
          <a:xfrm>
            <a:off x="5204987" y="1098748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10</a:t>
            </a:r>
            <a:endParaRPr sz="400"/>
          </a:p>
        </p:txBody>
      </p:sp>
      <p:sp>
        <p:nvSpPr>
          <p:cNvPr id="523" name="Google Shape;523;p34"/>
          <p:cNvSpPr/>
          <p:nvPr/>
        </p:nvSpPr>
        <p:spPr>
          <a:xfrm>
            <a:off x="7893437" y="177218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12</a:t>
            </a:r>
            <a:endParaRPr sz="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"/>
          <p:cNvSpPr/>
          <p:nvPr/>
        </p:nvSpPr>
        <p:spPr>
          <a:xfrm>
            <a:off x="287050" y="153714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9" name="Google Shape;5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5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31" name="Google Shape;531;p35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sp>
        <p:nvSpPr>
          <p:cNvPr id="532" name="Google Shape;532;p35"/>
          <p:cNvSpPr/>
          <p:nvPr/>
        </p:nvSpPr>
        <p:spPr>
          <a:xfrm>
            <a:off x="49975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5"/>
          <p:cNvSpPr/>
          <p:nvPr/>
        </p:nvSpPr>
        <p:spPr>
          <a:xfrm>
            <a:off x="88637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5"/>
          <p:cNvSpPr/>
          <p:nvPr/>
        </p:nvSpPr>
        <p:spPr>
          <a:xfrm>
            <a:off x="127300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5"/>
          <p:cNvSpPr/>
          <p:nvPr/>
        </p:nvSpPr>
        <p:spPr>
          <a:xfrm>
            <a:off x="165962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5"/>
          <p:cNvSpPr/>
          <p:nvPr/>
        </p:nvSpPr>
        <p:spPr>
          <a:xfrm>
            <a:off x="2046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5"/>
          <p:cNvSpPr/>
          <p:nvPr/>
        </p:nvSpPr>
        <p:spPr>
          <a:xfrm>
            <a:off x="2432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/>
          <p:nvPr/>
        </p:nvSpPr>
        <p:spPr>
          <a:xfrm>
            <a:off x="2819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5"/>
          <p:cNvSpPr/>
          <p:nvPr/>
        </p:nvSpPr>
        <p:spPr>
          <a:xfrm>
            <a:off x="32061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5"/>
          <p:cNvSpPr/>
          <p:nvPr/>
        </p:nvSpPr>
        <p:spPr>
          <a:xfrm>
            <a:off x="35927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/>
          <p:nvPr/>
        </p:nvSpPr>
        <p:spPr>
          <a:xfrm>
            <a:off x="39793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5"/>
          <p:cNvSpPr/>
          <p:nvPr/>
        </p:nvSpPr>
        <p:spPr>
          <a:xfrm>
            <a:off x="43660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5"/>
          <p:cNvSpPr/>
          <p:nvPr/>
        </p:nvSpPr>
        <p:spPr>
          <a:xfrm>
            <a:off x="47526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5"/>
          <p:cNvSpPr/>
          <p:nvPr/>
        </p:nvSpPr>
        <p:spPr>
          <a:xfrm>
            <a:off x="5139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5"/>
          <p:cNvSpPr/>
          <p:nvPr/>
        </p:nvSpPr>
        <p:spPr>
          <a:xfrm>
            <a:off x="5525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5"/>
          <p:cNvSpPr/>
          <p:nvPr/>
        </p:nvSpPr>
        <p:spPr>
          <a:xfrm>
            <a:off x="5912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5"/>
          <p:cNvSpPr txBox="1"/>
          <p:nvPr/>
        </p:nvSpPr>
        <p:spPr>
          <a:xfrm>
            <a:off x="0" y="0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UNIT Level Design 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TSR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(S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) - Analysis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5"/>
          <p:cNvSpPr/>
          <p:nvPr/>
        </p:nvSpPr>
        <p:spPr>
          <a:xfrm>
            <a:off x="6299128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6685753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70723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745900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784562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823225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86188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0" y="153714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556" name="Google Shape;556;p35"/>
          <p:cNvSpPr/>
          <p:nvPr/>
        </p:nvSpPr>
        <p:spPr>
          <a:xfrm>
            <a:off x="287050" y="1032967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5"/>
          <p:cNvSpPr/>
          <p:nvPr/>
        </p:nvSpPr>
        <p:spPr>
          <a:xfrm>
            <a:off x="0" y="1032967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558" name="Google Shape;558;p35"/>
          <p:cNvSpPr/>
          <p:nvPr/>
        </p:nvSpPr>
        <p:spPr>
          <a:xfrm>
            <a:off x="287050" y="52879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5"/>
          <p:cNvSpPr/>
          <p:nvPr/>
        </p:nvSpPr>
        <p:spPr>
          <a:xfrm>
            <a:off x="0" y="52879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560" name="Google Shape;560;p35"/>
          <p:cNvSpPr/>
          <p:nvPr/>
        </p:nvSpPr>
        <p:spPr>
          <a:xfrm>
            <a:off x="508998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561" name="Google Shape;561;p35"/>
          <p:cNvSpPr/>
          <p:nvPr/>
        </p:nvSpPr>
        <p:spPr>
          <a:xfrm>
            <a:off x="822250" y="1070325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Begin Transmission</a:t>
            </a:r>
            <a:endParaRPr sz="600"/>
          </a:p>
        </p:txBody>
      </p:sp>
      <p:cxnSp>
        <p:nvCxnSpPr>
          <p:cNvPr id="562" name="Google Shape;562;p35"/>
          <p:cNvCxnSpPr>
            <a:stCxn id="560" idx="0"/>
            <a:endCxn id="561" idx="1"/>
          </p:cNvCxnSpPr>
          <p:nvPr/>
        </p:nvCxnSpPr>
        <p:spPr>
          <a:xfrm rot="-5400000">
            <a:off x="586698" y="1338490"/>
            <a:ext cx="319200" cy="152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35"/>
          <p:cNvSpPr/>
          <p:nvPr/>
        </p:nvSpPr>
        <p:spPr>
          <a:xfrm>
            <a:off x="1272998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TSR_V[0]</a:t>
            </a:r>
            <a:endParaRPr sz="600"/>
          </a:p>
        </p:txBody>
      </p:sp>
      <p:sp>
        <p:nvSpPr>
          <p:cNvPr id="564" name="Google Shape;564;p35"/>
          <p:cNvSpPr/>
          <p:nvPr/>
        </p:nvSpPr>
        <p:spPr>
          <a:xfrm>
            <a:off x="1285325" y="1070325"/>
            <a:ext cx="3016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565" name="Google Shape;565;p35"/>
          <p:cNvSpPr/>
          <p:nvPr/>
        </p:nvSpPr>
        <p:spPr>
          <a:xfrm>
            <a:off x="1707951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TSR_V[1]</a:t>
            </a:r>
            <a:endParaRPr sz="600"/>
          </a:p>
        </p:txBody>
      </p:sp>
      <p:sp>
        <p:nvSpPr>
          <p:cNvPr id="566" name="Google Shape;566;p35"/>
          <p:cNvSpPr/>
          <p:nvPr/>
        </p:nvSpPr>
        <p:spPr>
          <a:xfrm>
            <a:off x="2142904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TSR_V[2]</a:t>
            </a:r>
            <a:endParaRPr sz="600"/>
          </a:p>
        </p:txBody>
      </p:sp>
      <p:sp>
        <p:nvSpPr>
          <p:cNvPr id="567" name="Google Shape;567;p35"/>
          <p:cNvSpPr/>
          <p:nvPr/>
        </p:nvSpPr>
        <p:spPr>
          <a:xfrm>
            <a:off x="257785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TSR_V[3]</a:t>
            </a:r>
            <a:endParaRPr sz="600"/>
          </a:p>
        </p:txBody>
      </p:sp>
      <p:sp>
        <p:nvSpPr>
          <p:cNvPr id="568" name="Google Shape;568;p35"/>
          <p:cNvSpPr/>
          <p:nvPr/>
        </p:nvSpPr>
        <p:spPr>
          <a:xfrm>
            <a:off x="3012810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TSR_V[4]</a:t>
            </a:r>
            <a:endParaRPr sz="600"/>
          </a:p>
        </p:txBody>
      </p:sp>
      <p:sp>
        <p:nvSpPr>
          <p:cNvPr id="569" name="Google Shape;569;p35"/>
          <p:cNvSpPr/>
          <p:nvPr/>
        </p:nvSpPr>
        <p:spPr>
          <a:xfrm>
            <a:off x="388271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TSR_V[9]</a:t>
            </a:r>
            <a:endParaRPr sz="600"/>
          </a:p>
        </p:txBody>
      </p:sp>
      <p:cxnSp>
        <p:nvCxnSpPr>
          <p:cNvPr id="570" name="Google Shape;570;p35"/>
          <p:cNvCxnSpPr/>
          <p:nvPr/>
        </p:nvCxnSpPr>
        <p:spPr>
          <a:xfrm flipH="1">
            <a:off x="1458263" y="891475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35"/>
          <p:cNvCxnSpPr/>
          <p:nvPr/>
        </p:nvCxnSpPr>
        <p:spPr>
          <a:xfrm flipH="1">
            <a:off x="1886960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35"/>
          <p:cNvCxnSpPr/>
          <p:nvPr/>
        </p:nvCxnSpPr>
        <p:spPr>
          <a:xfrm flipH="1">
            <a:off x="2315949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35"/>
          <p:cNvCxnSpPr/>
          <p:nvPr/>
        </p:nvCxnSpPr>
        <p:spPr>
          <a:xfrm flipH="1">
            <a:off x="2744646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35"/>
          <p:cNvCxnSpPr/>
          <p:nvPr/>
        </p:nvCxnSpPr>
        <p:spPr>
          <a:xfrm flipH="1">
            <a:off x="3181197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35"/>
          <p:cNvCxnSpPr/>
          <p:nvPr/>
        </p:nvCxnSpPr>
        <p:spPr>
          <a:xfrm flipH="1">
            <a:off x="4038883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6" name="Google Shape;576;p35"/>
          <p:cNvSpPr/>
          <p:nvPr/>
        </p:nvSpPr>
        <p:spPr>
          <a:xfrm>
            <a:off x="4758607" y="1070315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Test_TSR_T</a:t>
            </a:r>
            <a:endParaRPr sz="600"/>
          </a:p>
        </p:txBody>
      </p:sp>
      <p:sp>
        <p:nvSpPr>
          <p:cNvPr id="577" name="Google Shape;577;p35"/>
          <p:cNvSpPr/>
          <p:nvPr/>
        </p:nvSpPr>
        <p:spPr>
          <a:xfrm>
            <a:off x="4758607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Test_TSR_I</a:t>
            </a:r>
            <a:endParaRPr sz="600"/>
          </a:p>
        </p:txBody>
      </p:sp>
      <p:sp>
        <p:nvSpPr>
          <p:cNvPr id="578" name="Google Shape;578;p35"/>
          <p:cNvSpPr/>
          <p:nvPr/>
        </p:nvSpPr>
        <p:spPr>
          <a:xfrm>
            <a:off x="4365974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579" name="Google Shape;579;p35"/>
          <p:cNvCxnSpPr>
            <a:stCxn id="564" idx="3"/>
            <a:endCxn id="578" idx="1"/>
          </p:cNvCxnSpPr>
          <p:nvPr/>
        </p:nvCxnSpPr>
        <p:spPr>
          <a:xfrm>
            <a:off x="4301825" y="1254975"/>
            <a:ext cx="64200" cy="503700"/>
          </a:xfrm>
          <a:prstGeom prst="curvedConnector3">
            <a:avLst>
              <a:gd fmla="val 499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5"/>
          <p:cNvCxnSpPr>
            <a:stCxn id="564" idx="3"/>
            <a:endCxn id="576" idx="1"/>
          </p:cNvCxnSpPr>
          <p:nvPr/>
        </p:nvCxnSpPr>
        <p:spPr>
          <a:xfrm>
            <a:off x="4301825" y="1254975"/>
            <a:ext cx="4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35"/>
          <p:cNvCxnSpPr>
            <a:stCxn id="578" idx="3"/>
            <a:endCxn id="578" idx="3"/>
          </p:cNvCxnSpPr>
          <p:nvPr/>
        </p:nvCxnSpPr>
        <p:spPr>
          <a:xfrm>
            <a:off x="4688474" y="175879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35"/>
          <p:cNvCxnSpPr>
            <a:stCxn id="568" idx="3"/>
            <a:endCxn id="569" idx="1"/>
          </p:cNvCxnSpPr>
          <p:nvPr/>
        </p:nvCxnSpPr>
        <p:spPr>
          <a:xfrm>
            <a:off x="3335310" y="788140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35"/>
          <p:cNvSpPr/>
          <p:nvPr/>
        </p:nvSpPr>
        <p:spPr>
          <a:xfrm>
            <a:off x="5146085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584" name="Google Shape;584;p35"/>
          <p:cNvSpPr/>
          <p:nvPr/>
        </p:nvSpPr>
        <p:spPr>
          <a:xfrm>
            <a:off x="5464386" y="1070313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Begin Transmission</a:t>
            </a:r>
            <a:endParaRPr sz="500"/>
          </a:p>
        </p:txBody>
      </p:sp>
      <p:sp>
        <p:nvSpPr>
          <p:cNvPr id="585" name="Google Shape;585;p35"/>
          <p:cNvSpPr/>
          <p:nvPr/>
        </p:nvSpPr>
        <p:spPr>
          <a:xfrm>
            <a:off x="5910085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TSR_V[0]</a:t>
            </a:r>
            <a:endParaRPr sz="600"/>
          </a:p>
        </p:txBody>
      </p:sp>
      <p:sp>
        <p:nvSpPr>
          <p:cNvPr id="586" name="Google Shape;586;p35"/>
          <p:cNvSpPr/>
          <p:nvPr/>
        </p:nvSpPr>
        <p:spPr>
          <a:xfrm>
            <a:off x="5922421" y="1083825"/>
            <a:ext cx="2056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587" name="Google Shape;587;p35"/>
          <p:cNvSpPr/>
          <p:nvPr/>
        </p:nvSpPr>
        <p:spPr>
          <a:xfrm>
            <a:off x="6345038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TSR_V[1]</a:t>
            </a:r>
            <a:endParaRPr sz="600"/>
          </a:p>
        </p:txBody>
      </p:sp>
      <p:sp>
        <p:nvSpPr>
          <p:cNvPr id="588" name="Google Shape;588;p35"/>
          <p:cNvSpPr/>
          <p:nvPr/>
        </p:nvSpPr>
        <p:spPr>
          <a:xfrm>
            <a:off x="6779992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TSR_V[2]</a:t>
            </a:r>
            <a:endParaRPr sz="600"/>
          </a:p>
        </p:txBody>
      </p:sp>
      <p:sp>
        <p:nvSpPr>
          <p:cNvPr id="589" name="Google Shape;589;p35"/>
          <p:cNvSpPr/>
          <p:nvPr/>
        </p:nvSpPr>
        <p:spPr>
          <a:xfrm>
            <a:off x="7656766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TSR_V[9]</a:t>
            </a:r>
            <a:endParaRPr sz="600"/>
          </a:p>
        </p:txBody>
      </p:sp>
      <p:cxnSp>
        <p:nvCxnSpPr>
          <p:cNvPr id="590" name="Google Shape;590;p35"/>
          <p:cNvCxnSpPr/>
          <p:nvPr/>
        </p:nvCxnSpPr>
        <p:spPr>
          <a:xfrm flipH="1">
            <a:off x="6095350" y="904969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35"/>
          <p:cNvCxnSpPr/>
          <p:nvPr/>
        </p:nvCxnSpPr>
        <p:spPr>
          <a:xfrm flipH="1">
            <a:off x="6524048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35"/>
          <p:cNvCxnSpPr/>
          <p:nvPr/>
        </p:nvCxnSpPr>
        <p:spPr>
          <a:xfrm flipH="1">
            <a:off x="6953036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35"/>
          <p:cNvCxnSpPr/>
          <p:nvPr/>
        </p:nvCxnSpPr>
        <p:spPr>
          <a:xfrm flipH="1">
            <a:off x="7844507" y="904387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35"/>
          <p:cNvSpPr/>
          <p:nvPr/>
        </p:nvSpPr>
        <p:spPr>
          <a:xfrm>
            <a:off x="8627380" y="1083809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Test_TSR_T</a:t>
            </a:r>
            <a:endParaRPr sz="600"/>
          </a:p>
        </p:txBody>
      </p:sp>
      <p:sp>
        <p:nvSpPr>
          <p:cNvPr id="595" name="Google Shape;595;p35"/>
          <p:cNvSpPr/>
          <p:nvPr/>
        </p:nvSpPr>
        <p:spPr>
          <a:xfrm>
            <a:off x="8627380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Test_TSR_I</a:t>
            </a:r>
            <a:endParaRPr sz="600"/>
          </a:p>
        </p:txBody>
      </p:sp>
      <p:sp>
        <p:nvSpPr>
          <p:cNvPr id="596" name="Google Shape;596;p35"/>
          <p:cNvSpPr/>
          <p:nvPr/>
        </p:nvSpPr>
        <p:spPr>
          <a:xfrm>
            <a:off x="8234747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597" name="Google Shape;597;p35"/>
          <p:cNvCxnSpPr>
            <a:stCxn id="598" idx="3"/>
            <a:endCxn id="589" idx="1"/>
          </p:cNvCxnSpPr>
          <p:nvPr/>
        </p:nvCxnSpPr>
        <p:spPr>
          <a:xfrm>
            <a:off x="7109266" y="801634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35"/>
          <p:cNvSpPr/>
          <p:nvPr/>
        </p:nvSpPr>
        <p:spPr>
          <a:xfrm>
            <a:off x="6780010" y="1588147"/>
            <a:ext cx="322500" cy="36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</a:t>
            </a:r>
            <a:endParaRPr sz="600"/>
          </a:p>
        </p:txBody>
      </p:sp>
      <p:cxnSp>
        <p:nvCxnSpPr>
          <p:cNvPr id="600" name="Google Shape;600;p35"/>
          <p:cNvCxnSpPr>
            <a:stCxn id="586" idx="3"/>
            <a:endCxn id="594" idx="1"/>
          </p:cNvCxnSpPr>
          <p:nvPr/>
        </p:nvCxnSpPr>
        <p:spPr>
          <a:xfrm>
            <a:off x="7979221" y="1268475"/>
            <a:ext cx="64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5"/>
          <p:cNvCxnSpPr>
            <a:stCxn id="596" idx="3"/>
            <a:endCxn id="595" idx="1"/>
          </p:cNvCxnSpPr>
          <p:nvPr/>
        </p:nvCxnSpPr>
        <p:spPr>
          <a:xfrm>
            <a:off x="8557247" y="1772284"/>
            <a:ext cx="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5"/>
          <p:cNvCxnSpPr>
            <a:stCxn id="586" idx="3"/>
            <a:endCxn id="596" idx="1"/>
          </p:cNvCxnSpPr>
          <p:nvPr/>
        </p:nvCxnSpPr>
        <p:spPr>
          <a:xfrm>
            <a:off x="7979221" y="1268475"/>
            <a:ext cx="255600" cy="503700"/>
          </a:xfrm>
          <a:prstGeom prst="curved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35"/>
          <p:cNvSpPr/>
          <p:nvPr/>
        </p:nvSpPr>
        <p:spPr>
          <a:xfrm>
            <a:off x="5004125" y="1157073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604" name="Google Shape;604;p35"/>
          <p:cNvSpPr/>
          <p:nvPr/>
        </p:nvSpPr>
        <p:spPr>
          <a:xfrm>
            <a:off x="5004125" y="1587648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605" name="Google Shape;605;p35"/>
          <p:cNvSpPr/>
          <p:nvPr/>
        </p:nvSpPr>
        <p:spPr>
          <a:xfrm>
            <a:off x="8856850" y="1131823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606" name="Google Shape;606;p35"/>
          <p:cNvSpPr/>
          <p:nvPr/>
        </p:nvSpPr>
        <p:spPr>
          <a:xfrm>
            <a:off x="8856850" y="1638448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607" name="Google Shape;607;p35"/>
          <p:cNvSpPr txBox="1"/>
          <p:nvPr/>
        </p:nvSpPr>
        <p:spPr>
          <a:xfrm>
            <a:off x="69225" y="2368725"/>
            <a:ext cx="8916000" cy="24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SW Design Explanation</a:t>
            </a:r>
            <a:endParaRPr sz="10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Initialize the system.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Establish I²C communication between Initiator and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configures switch(M74HC4066B1) for normal sensor mode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TSR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TSR sensor readings remain within the specified range, therefore, the test passes.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injects fault condition (e.g., SDA line fault)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TSR sensor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or error status back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TSR sensor samples are outside the specified range, therefore, the test fails.</a:t>
            </a:r>
            <a:endParaRPr sz="6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5"/>
          <p:cNvSpPr/>
          <p:nvPr/>
        </p:nvSpPr>
        <p:spPr>
          <a:xfrm>
            <a:off x="489088" y="13781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1</a:t>
            </a:r>
            <a:endParaRPr sz="600"/>
          </a:p>
        </p:txBody>
      </p:sp>
      <p:sp>
        <p:nvSpPr>
          <p:cNvPr id="609" name="Google Shape;609;p35"/>
          <p:cNvSpPr/>
          <p:nvPr/>
        </p:nvSpPr>
        <p:spPr>
          <a:xfrm>
            <a:off x="1093588" y="7075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5</a:t>
            </a:r>
            <a:endParaRPr sz="600"/>
          </a:p>
        </p:txBody>
      </p:sp>
      <p:sp>
        <p:nvSpPr>
          <p:cNvPr id="610" name="Google Shape;610;p35"/>
          <p:cNvSpPr/>
          <p:nvPr/>
        </p:nvSpPr>
        <p:spPr>
          <a:xfrm>
            <a:off x="4163263" y="1462666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7</a:t>
            </a:r>
            <a:endParaRPr sz="600"/>
          </a:p>
        </p:txBody>
      </p:sp>
      <p:sp>
        <p:nvSpPr>
          <p:cNvPr id="611" name="Google Shape;611;p35"/>
          <p:cNvSpPr/>
          <p:nvPr/>
        </p:nvSpPr>
        <p:spPr>
          <a:xfrm>
            <a:off x="5054513" y="14127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8</a:t>
            </a:r>
            <a:endParaRPr sz="600"/>
          </a:p>
        </p:txBody>
      </p:sp>
      <p:sp>
        <p:nvSpPr>
          <p:cNvPr id="612" name="Google Shape;612;p35"/>
          <p:cNvSpPr/>
          <p:nvPr/>
        </p:nvSpPr>
        <p:spPr>
          <a:xfrm>
            <a:off x="6568213" y="17169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9</a:t>
            </a:r>
            <a:endParaRPr sz="600"/>
          </a:p>
        </p:txBody>
      </p:sp>
      <p:sp>
        <p:nvSpPr>
          <p:cNvPr id="613" name="Google Shape;613;p35"/>
          <p:cNvSpPr txBox="1"/>
          <p:nvPr/>
        </p:nvSpPr>
        <p:spPr>
          <a:xfrm>
            <a:off x="6803175" y="2975450"/>
            <a:ext cx="386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642838" y="10198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3</a:t>
            </a:r>
            <a:endParaRPr sz="600"/>
          </a:p>
        </p:txBody>
      </p:sp>
      <p:sp>
        <p:nvSpPr>
          <p:cNvPr id="615" name="Google Shape;615;p35"/>
          <p:cNvSpPr/>
          <p:nvPr/>
        </p:nvSpPr>
        <p:spPr>
          <a:xfrm>
            <a:off x="8911387" y="141423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14</a:t>
            </a:r>
            <a:endParaRPr sz="400"/>
          </a:p>
        </p:txBody>
      </p:sp>
      <p:sp>
        <p:nvSpPr>
          <p:cNvPr id="616" name="Google Shape;616;p35"/>
          <p:cNvSpPr/>
          <p:nvPr/>
        </p:nvSpPr>
        <p:spPr>
          <a:xfrm>
            <a:off x="7969012" y="177218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12</a:t>
            </a:r>
            <a:endParaRPr sz="400"/>
          </a:p>
        </p:txBody>
      </p:sp>
      <p:sp>
        <p:nvSpPr>
          <p:cNvPr id="617" name="Google Shape;617;p35"/>
          <p:cNvSpPr/>
          <p:nvPr/>
        </p:nvSpPr>
        <p:spPr>
          <a:xfrm>
            <a:off x="5651237" y="707573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11</a:t>
            </a:r>
            <a:endParaRPr sz="400"/>
          </a:p>
        </p:txBody>
      </p:sp>
      <p:sp>
        <p:nvSpPr>
          <p:cNvPr id="618" name="Google Shape;618;p35"/>
          <p:cNvSpPr/>
          <p:nvPr/>
        </p:nvSpPr>
        <p:spPr>
          <a:xfrm>
            <a:off x="5233925" y="116093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10</a:t>
            </a:r>
            <a:endParaRPr sz="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6"/>
          <p:cNvSpPr/>
          <p:nvPr/>
        </p:nvSpPr>
        <p:spPr>
          <a:xfrm>
            <a:off x="287050" y="153714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4" name="Google Shape;6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6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6" name="Google Shape;626;p36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sp>
        <p:nvSpPr>
          <p:cNvPr id="627" name="Google Shape;627;p36"/>
          <p:cNvSpPr/>
          <p:nvPr/>
        </p:nvSpPr>
        <p:spPr>
          <a:xfrm>
            <a:off x="49975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6"/>
          <p:cNvSpPr/>
          <p:nvPr/>
        </p:nvSpPr>
        <p:spPr>
          <a:xfrm>
            <a:off x="88637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1273004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1659629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2046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2432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2819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32061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35927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39793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43660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475262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513925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5525878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5912503" y="2140628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6"/>
          <p:cNvSpPr txBox="1"/>
          <p:nvPr/>
        </p:nvSpPr>
        <p:spPr>
          <a:xfrm>
            <a:off x="0" y="0"/>
            <a:ext cx="91440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UNIT Level Design 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(S</a:t>
            </a: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) - Analysis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6299128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6685753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6"/>
          <p:cNvSpPr/>
          <p:nvPr/>
        </p:nvSpPr>
        <p:spPr>
          <a:xfrm>
            <a:off x="70723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6"/>
          <p:cNvSpPr/>
          <p:nvPr/>
        </p:nvSpPr>
        <p:spPr>
          <a:xfrm>
            <a:off x="745900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784562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6"/>
          <p:cNvSpPr/>
          <p:nvPr/>
        </p:nvSpPr>
        <p:spPr>
          <a:xfrm>
            <a:off x="8232252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6"/>
          <p:cNvSpPr/>
          <p:nvPr/>
        </p:nvSpPr>
        <p:spPr>
          <a:xfrm>
            <a:off x="8618877" y="2145066"/>
            <a:ext cx="322500" cy="81000"/>
          </a:xfrm>
          <a:prstGeom prst="rect">
            <a:avLst/>
          </a:prstGeom>
          <a:solidFill>
            <a:schemeClr val="accent4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0" y="153714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651" name="Google Shape;651;p36"/>
          <p:cNvSpPr/>
          <p:nvPr/>
        </p:nvSpPr>
        <p:spPr>
          <a:xfrm>
            <a:off x="287050" y="1032967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6"/>
          <p:cNvSpPr/>
          <p:nvPr/>
        </p:nvSpPr>
        <p:spPr>
          <a:xfrm>
            <a:off x="0" y="1032967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653" name="Google Shape;653;p36"/>
          <p:cNvSpPr/>
          <p:nvPr/>
        </p:nvSpPr>
        <p:spPr>
          <a:xfrm>
            <a:off x="287050" y="528792"/>
            <a:ext cx="87858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6"/>
          <p:cNvSpPr/>
          <p:nvPr/>
        </p:nvSpPr>
        <p:spPr>
          <a:xfrm>
            <a:off x="0" y="528792"/>
            <a:ext cx="271200" cy="44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655" name="Google Shape;655;p36"/>
          <p:cNvSpPr/>
          <p:nvPr/>
        </p:nvSpPr>
        <p:spPr>
          <a:xfrm>
            <a:off x="508998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656" name="Google Shape;656;p36"/>
          <p:cNvSpPr/>
          <p:nvPr/>
        </p:nvSpPr>
        <p:spPr>
          <a:xfrm>
            <a:off x="822250" y="1070325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Begin Transmission</a:t>
            </a:r>
            <a:endParaRPr sz="600"/>
          </a:p>
        </p:txBody>
      </p:sp>
      <p:cxnSp>
        <p:nvCxnSpPr>
          <p:cNvPr id="657" name="Google Shape;657;p36"/>
          <p:cNvCxnSpPr>
            <a:stCxn id="655" idx="0"/>
            <a:endCxn id="656" idx="1"/>
          </p:cNvCxnSpPr>
          <p:nvPr/>
        </p:nvCxnSpPr>
        <p:spPr>
          <a:xfrm rot="-5400000">
            <a:off x="586698" y="1338490"/>
            <a:ext cx="319200" cy="152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36"/>
          <p:cNvSpPr/>
          <p:nvPr/>
        </p:nvSpPr>
        <p:spPr>
          <a:xfrm>
            <a:off x="1272998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_V[0]</a:t>
            </a:r>
            <a:endParaRPr sz="600"/>
          </a:p>
        </p:txBody>
      </p:sp>
      <p:sp>
        <p:nvSpPr>
          <p:cNvPr id="659" name="Google Shape;659;p36"/>
          <p:cNvSpPr/>
          <p:nvPr/>
        </p:nvSpPr>
        <p:spPr>
          <a:xfrm>
            <a:off x="1285325" y="1070325"/>
            <a:ext cx="3016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660" name="Google Shape;660;p36"/>
          <p:cNvSpPr/>
          <p:nvPr/>
        </p:nvSpPr>
        <p:spPr>
          <a:xfrm>
            <a:off x="1707951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_V[1]</a:t>
            </a:r>
            <a:endParaRPr sz="600"/>
          </a:p>
        </p:txBody>
      </p:sp>
      <p:sp>
        <p:nvSpPr>
          <p:cNvPr id="661" name="Google Shape;661;p36"/>
          <p:cNvSpPr/>
          <p:nvPr/>
        </p:nvSpPr>
        <p:spPr>
          <a:xfrm>
            <a:off x="2142904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_V[2]</a:t>
            </a:r>
            <a:endParaRPr sz="600"/>
          </a:p>
        </p:txBody>
      </p:sp>
      <p:sp>
        <p:nvSpPr>
          <p:cNvPr id="662" name="Google Shape;662;p36"/>
          <p:cNvSpPr/>
          <p:nvPr/>
        </p:nvSpPr>
        <p:spPr>
          <a:xfrm>
            <a:off x="257785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_V[3]</a:t>
            </a:r>
            <a:endParaRPr sz="600"/>
          </a:p>
        </p:txBody>
      </p:sp>
      <p:sp>
        <p:nvSpPr>
          <p:cNvPr id="663" name="Google Shape;663;p36"/>
          <p:cNvSpPr/>
          <p:nvPr/>
        </p:nvSpPr>
        <p:spPr>
          <a:xfrm>
            <a:off x="3012810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_V[4]</a:t>
            </a:r>
            <a:endParaRPr sz="600"/>
          </a:p>
        </p:txBody>
      </p:sp>
      <p:sp>
        <p:nvSpPr>
          <p:cNvPr id="664" name="Google Shape;664;p36"/>
          <p:cNvSpPr/>
          <p:nvPr/>
        </p:nvSpPr>
        <p:spPr>
          <a:xfrm>
            <a:off x="3882717" y="60349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_V[9]</a:t>
            </a:r>
            <a:endParaRPr sz="600"/>
          </a:p>
        </p:txBody>
      </p:sp>
      <p:cxnSp>
        <p:nvCxnSpPr>
          <p:cNvPr id="665" name="Google Shape;665;p36"/>
          <p:cNvCxnSpPr/>
          <p:nvPr/>
        </p:nvCxnSpPr>
        <p:spPr>
          <a:xfrm flipH="1">
            <a:off x="1458263" y="891475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36"/>
          <p:cNvCxnSpPr/>
          <p:nvPr/>
        </p:nvCxnSpPr>
        <p:spPr>
          <a:xfrm flipH="1">
            <a:off x="1886960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36"/>
          <p:cNvCxnSpPr/>
          <p:nvPr/>
        </p:nvCxnSpPr>
        <p:spPr>
          <a:xfrm flipH="1">
            <a:off x="2315949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36"/>
          <p:cNvCxnSpPr/>
          <p:nvPr/>
        </p:nvCxnSpPr>
        <p:spPr>
          <a:xfrm flipH="1">
            <a:off x="2744646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p36"/>
          <p:cNvCxnSpPr/>
          <p:nvPr/>
        </p:nvCxnSpPr>
        <p:spPr>
          <a:xfrm flipH="1">
            <a:off x="3181197" y="891184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p36"/>
          <p:cNvCxnSpPr/>
          <p:nvPr/>
        </p:nvCxnSpPr>
        <p:spPr>
          <a:xfrm flipH="1">
            <a:off x="4038883" y="890893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36"/>
          <p:cNvSpPr/>
          <p:nvPr/>
        </p:nvSpPr>
        <p:spPr>
          <a:xfrm>
            <a:off x="4758607" y="1070315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Test_RE_T</a:t>
            </a:r>
            <a:endParaRPr sz="600"/>
          </a:p>
        </p:txBody>
      </p:sp>
      <p:sp>
        <p:nvSpPr>
          <p:cNvPr id="672" name="Google Shape;672;p36"/>
          <p:cNvSpPr/>
          <p:nvPr/>
        </p:nvSpPr>
        <p:spPr>
          <a:xfrm>
            <a:off x="4758607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Test_RE_I</a:t>
            </a:r>
            <a:endParaRPr sz="600"/>
          </a:p>
        </p:txBody>
      </p:sp>
      <p:sp>
        <p:nvSpPr>
          <p:cNvPr id="673" name="Google Shape;673;p36"/>
          <p:cNvSpPr/>
          <p:nvPr/>
        </p:nvSpPr>
        <p:spPr>
          <a:xfrm>
            <a:off x="4365974" y="1574140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674" name="Google Shape;674;p36"/>
          <p:cNvCxnSpPr>
            <a:stCxn id="659" idx="3"/>
            <a:endCxn id="673" idx="1"/>
          </p:cNvCxnSpPr>
          <p:nvPr/>
        </p:nvCxnSpPr>
        <p:spPr>
          <a:xfrm>
            <a:off x="4301825" y="1254975"/>
            <a:ext cx="64200" cy="503700"/>
          </a:xfrm>
          <a:prstGeom prst="curvedConnector3">
            <a:avLst>
              <a:gd fmla="val 499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6"/>
          <p:cNvCxnSpPr>
            <a:stCxn id="659" idx="3"/>
            <a:endCxn id="671" idx="1"/>
          </p:cNvCxnSpPr>
          <p:nvPr/>
        </p:nvCxnSpPr>
        <p:spPr>
          <a:xfrm>
            <a:off x="4301825" y="1254975"/>
            <a:ext cx="4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6"/>
          <p:cNvCxnSpPr>
            <a:stCxn id="673" idx="3"/>
            <a:endCxn id="673" idx="3"/>
          </p:cNvCxnSpPr>
          <p:nvPr/>
        </p:nvCxnSpPr>
        <p:spPr>
          <a:xfrm>
            <a:off x="4688474" y="175879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6"/>
          <p:cNvCxnSpPr>
            <a:stCxn id="663" idx="3"/>
            <a:endCxn id="664" idx="1"/>
          </p:cNvCxnSpPr>
          <p:nvPr/>
        </p:nvCxnSpPr>
        <p:spPr>
          <a:xfrm>
            <a:off x="3335310" y="788140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36"/>
          <p:cNvSpPr/>
          <p:nvPr/>
        </p:nvSpPr>
        <p:spPr>
          <a:xfrm>
            <a:off x="5146085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 initi</a:t>
            </a:r>
            <a:endParaRPr sz="600"/>
          </a:p>
        </p:txBody>
      </p:sp>
      <p:sp>
        <p:nvSpPr>
          <p:cNvPr id="679" name="Google Shape;679;p36"/>
          <p:cNvSpPr/>
          <p:nvPr/>
        </p:nvSpPr>
        <p:spPr>
          <a:xfrm>
            <a:off x="5464386" y="1070313"/>
            <a:ext cx="3867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Begin Transmission</a:t>
            </a:r>
            <a:endParaRPr sz="500"/>
          </a:p>
        </p:txBody>
      </p:sp>
      <p:sp>
        <p:nvSpPr>
          <p:cNvPr id="680" name="Google Shape;680;p36"/>
          <p:cNvSpPr/>
          <p:nvPr/>
        </p:nvSpPr>
        <p:spPr>
          <a:xfrm>
            <a:off x="5910085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_V[0]</a:t>
            </a:r>
            <a:endParaRPr sz="600"/>
          </a:p>
        </p:txBody>
      </p:sp>
      <p:sp>
        <p:nvSpPr>
          <p:cNvPr id="681" name="Google Shape;681;p36"/>
          <p:cNvSpPr/>
          <p:nvPr/>
        </p:nvSpPr>
        <p:spPr>
          <a:xfrm>
            <a:off x="5922421" y="1083825"/>
            <a:ext cx="2056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FIFO</a:t>
            </a:r>
            <a:endParaRPr sz="600"/>
          </a:p>
        </p:txBody>
      </p:sp>
      <p:sp>
        <p:nvSpPr>
          <p:cNvPr id="682" name="Google Shape;682;p36"/>
          <p:cNvSpPr/>
          <p:nvPr/>
        </p:nvSpPr>
        <p:spPr>
          <a:xfrm>
            <a:off x="6345038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_V[1]</a:t>
            </a:r>
            <a:endParaRPr sz="600"/>
          </a:p>
        </p:txBody>
      </p:sp>
      <p:sp>
        <p:nvSpPr>
          <p:cNvPr id="683" name="Google Shape;683;p36"/>
          <p:cNvSpPr/>
          <p:nvPr/>
        </p:nvSpPr>
        <p:spPr>
          <a:xfrm>
            <a:off x="6779992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_V[2]</a:t>
            </a:r>
            <a:endParaRPr sz="600"/>
          </a:p>
        </p:txBody>
      </p:sp>
      <p:sp>
        <p:nvSpPr>
          <p:cNvPr id="684" name="Google Shape;684;p36"/>
          <p:cNvSpPr/>
          <p:nvPr/>
        </p:nvSpPr>
        <p:spPr>
          <a:xfrm>
            <a:off x="7656766" y="61698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RE</a:t>
            </a:r>
            <a:r>
              <a:rPr lang="en" sz="600"/>
              <a:t>_V[9]</a:t>
            </a:r>
            <a:endParaRPr sz="600"/>
          </a:p>
        </p:txBody>
      </p:sp>
      <p:cxnSp>
        <p:nvCxnSpPr>
          <p:cNvPr id="685" name="Google Shape;685;p36"/>
          <p:cNvCxnSpPr/>
          <p:nvPr/>
        </p:nvCxnSpPr>
        <p:spPr>
          <a:xfrm flipH="1">
            <a:off x="6095350" y="904969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36"/>
          <p:cNvCxnSpPr/>
          <p:nvPr/>
        </p:nvCxnSpPr>
        <p:spPr>
          <a:xfrm flipH="1">
            <a:off x="6524048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36"/>
          <p:cNvCxnSpPr/>
          <p:nvPr/>
        </p:nvCxnSpPr>
        <p:spPr>
          <a:xfrm flipH="1">
            <a:off x="6953036" y="904678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36"/>
          <p:cNvCxnSpPr/>
          <p:nvPr/>
        </p:nvCxnSpPr>
        <p:spPr>
          <a:xfrm flipH="1">
            <a:off x="7844507" y="904387"/>
            <a:ext cx="300" cy="1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9" name="Google Shape;689;p36"/>
          <p:cNvSpPr/>
          <p:nvPr/>
        </p:nvSpPr>
        <p:spPr>
          <a:xfrm>
            <a:off x="8627380" y="1083809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Test_RE_T</a:t>
            </a:r>
            <a:endParaRPr sz="600"/>
          </a:p>
        </p:txBody>
      </p:sp>
      <p:sp>
        <p:nvSpPr>
          <p:cNvPr id="690" name="Google Shape;690;p36"/>
          <p:cNvSpPr/>
          <p:nvPr/>
        </p:nvSpPr>
        <p:spPr>
          <a:xfrm>
            <a:off x="8627380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Self Test_RE_I</a:t>
            </a:r>
            <a:endParaRPr sz="600"/>
          </a:p>
        </p:txBody>
      </p:sp>
      <p:sp>
        <p:nvSpPr>
          <p:cNvPr id="691" name="Google Shape;691;p36"/>
          <p:cNvSpPr/>
          <p:nvPr/>
        </p:nvSpPr>
        <p:spPr>
          <a:xfrm>
            <a:off x="8234747" y="1587634"/>
            <a:ext cx="322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Collect Sample</a:t>
            </a:r>
            <a:endParaRPr sz="600"/>
          </a:p>
        </p:txBody>
      </p:sp>
      <p:cxnSp>
        <p:nvCxnSpPr>
          <p:cNvPr id="692" name="Google Shape;692;p36"/>
          <p:cNvCxnSpPr>
            <a:stCxn id="693" idx="3"/>
            <a:endCxn id="684" idx="1"/>
          </p:cNvCxnSpPr>
          <p:nvPr/>
        </p:nvCxnSpPr>
        <p:spPr>
          <a:xfrm>
            <a:off x="7109266" y="801634"/>
            <a:ext cx="5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36"/>
          <p:cNvSpPr/>
          <p:nvPr/>
        </p:nvSpPr>
        <p:spPr>
          <a:xfrm>
            <a:off x="6780010" y="1588147"/>
            <a:ext cx="322500" cy="36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</a:t>
            </a:r>
            <a:endParaRPr sz="600"/>
          </a:p>
        </p:txBody>
      </p:sp>
      <p:cxnSp>
        <p:nvCxnSpPr>
          <p:cNvPr id="695" name="Google Shape;695;p36"/>
          <p:cNvCxnSpPr>
            <a:stCxn id="681" idx="3"/>
            <a:endCxn id="689" idx="1"/>
          </p:cNvCxnSpPr>
          <p:nvPr/>
        </p:nvCxnSpPr>
        <p:spPr>
          <a:xfrm>
            <a:off x="7979221" y="1268475"/>
            <a:ext cx="64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36"/>
          <p:cNvCxnSpPr>
            <a:stCxn id="691" idx="3"/>
            <a:endCxn id="690" idx="1"/>
          </p:cNvCxnSpPr>
          <p:nvPr/>
        </p:nvCxnSpPr>
        <p:spPr>
          <a:xfrm>
            <a:off x="8557247" y="1772284"/>
            <a:ext cx="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36"/>
          <p:cNvCxnSpPr>
            <a:stCxn id="681" idx="3"/>
            <a:endCxn id="691" idx="1"/>
          </p:cNvCxnSpPr>
          <p:nvPr/>
        </p:nvCxnSpPr>
        <p:spPr>
          <a:xfrm>
            <a:off x="7979221" y="1268475"/>
            <a:ext cx="255600" cy="503700"/>
          </a:xfrm>
          <a:prstGeom prst="curved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36"/>
          <p:cNvSpPr/>
          <p:nvPr/>
        </p:nvSpPr>
        <p:spPr>
          <a:xfrm>
            <a:off x="5004125" y="1157073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699" name="Google Shape;699;p36"/>
          <p:cNvSpPr/>
          <p:nvPr/>
        </p:nvSpPr>
        <p:spPr>
          <a:xfrm>
            <a:off x="5004125" y="1587648"/>
            <a:ext cx="216000" cy="246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</a:t>
            </a:r>
            <a:endParaRPr sz="700"/>
          </a:p>
        </p:txBody>
      </p:sp>
      <p:sp>
        <p:nvSpPr>
          <p:cNvPr id="700" name="Google Shape;700;p36"/>
          <p:cNvSpPr/>
          <p:nvPr/>
        </p:nvSpPr>
        <p:spPr>
          <a:xfrm>
            <a:off x="8856850" y="1131823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701" name="Google Shape;701;p36"/>
          <p:cNvSpPr/>
          <p:nvPr/>
        </p:nvSpPr>
        <p:spPr>
          <a:xfrm>
            <a:off x="8856850" y="1638448"/>
            <a:ext cx="216000" cy="246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</a:t>
            </a:r>
            <a:endParaRPr sz="700"/>
          </a:p>
        </p:txBody>
      </p:sp>
      <p:sp>
        <p:nvSpPr>
          <p:cNvPr id="702" name="Google Shape;702;p36"/>
          <p:cNvSpPr txBox="1"/>
          <p:nvPr/>
        </p:nvSpPr>
        <p:spPr>
          <a:xfrm>
            <a:off x="69225" y="2368725"/>
            <a:ext cx="8916000" cy="24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SW Design Explanation</a:t>
            </a:r>
            <a:endParaRPr sz="10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Initialize the system.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Establish I²C communication between Initiator and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configures switch(M74HC4066B1) for normal sensor mode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Rotary encoder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MCP9808 temperature readings remain within the specified range, therefore, the test passes.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injects fault condition (e.g., SDA line fault) 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sends sensor read command to Target ESP32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receives command and performs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Rotary encoder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 sensor read operation upto 10 samples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Target ESP32 sends 10 samples data to Initiator ESP32 on request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Initiator ESP32 receives  10 samples data from Target ESP32 and checks the diagnostics</a:t>
            </a:r>
            <a:endParaRPr sz="8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rgbClr val="662A53"/>
              </a:buClr>
              <a:buSzPts val="800"/>
              <a:buFont typeface="Calibri"/>
              <a:buAutoNum type="arabicPeriod"/>
            </a:pP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Rotary encoder </a:t>
            </a:r>
            <a:r>
              <a:rPr lang="en" sz="800">
                <a:solidFill>
                  <a:srgbClr val="662A53"/>
                </a:solidFill>
                <a:latin typeface="Calibri"/>
                <a:ea typeface="Calibri"/>
                <a:cs typeface="Calibri"/>
                <a:sym typeface="Calibri"/>
              </a:rPr>
              <a:t>samples are outside the specified range, therefore, the test fails.</a:t>
            </a:r>
            <a:endParaRPr sz="600">
              <a:solidFill>
                <a:srgbClr val="662A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6"/>
          <p:cNvSpPr/>
          <p:nvPr/>
        </p:nvSpPr>
        <p:spPr>
          <a:xfrm>
            <a:off x="489088" y="13781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1</a:t>
            </a:r>
            <a:endParaRPr sz="600"/>
          </a:p>
        </p:txBody>
      </p:sp>
      <p:sp>
        <p:nvSpPr>
          <p:cNvPr id="704" name="Google Shape;704;p36"/>
          <p:cNvSpPr/>
          <p:nvPr/>
        </p:nvSpPr>
        <p:spPr>
          <a:xfrm>
            <a:off x="1093588" y="7075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5</a:t>
            </a:r>
            <a:endParaRPr sz="600"/>
          </a:p>
        </p:txBody>
      </p:sp>
      <p:sp>
        <p:nvSpPr>
          <p:cNvPr id="705" name="Google Shape;705;p36"/>
          <p:cNvSpPr/>
          <p:nvPr/>
        </p:nvSpPr>
        <p:spPr>
          <a:xfrm>
            <a:off x="4163263" y="1462666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7</a:t>
            </a:r>
            <a:endParaRPr sz="600"/>
          </a:p>
        </p:txBody>
      </p:sp>
      <p:sp>
        <p:nvSpPr>
          <p:cNvPr id="706" name="Google Shape;706;p36"/>
          <p:cNvSpPr/>
          <p:nvPr/>
        </p:nvSpPr>
        <p:spPr>
          <a:xfrm>
            <a:off x="5054513" y="14127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8</a:t>
            </a:r>
            <a:endParaRPr sz="600"/>
          </a:p>
        </p:txBody>
      </p:sp>
      <p:sp>
        <p:nvSpPr>
          <p:cNvPr id="707" name="Google Shape;707;p36"/>
          <p:cNvSpPr/>
          <p:nvPr/>
        </p:nvSpPr>
        <p:spPr>
          <a:xfrm>
            <a:off x="5239512" y="1069848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</a:t>
            </a:r>
            <a:r>
              <a:rPr lang="en" sz="400"/>
              <a:t>10</a:t>
            </a:r>
            <a:endParaRPr sz="400"/>
          </a:p>
        </p:txBody>
      </p:sp>
      <p:sp>
        <p:nvSpPr>
          <p:cNvPr id="708" name="Google Shape;708;p36"/>
          <p:cNvSpPr/>
          <p:nvPr/>
        </p:nvSpPr>
        <p:spPr>
          <a:xfrm>
            <a:off x="6568213" y="171697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9</a:t>
            </a:r>
            <a:endParaRPr sz="600"/>
          </a:p>
        </p:txBody>
      </p:sp>
      <p:sp>
        <p:nvSpPr>
          <p:cNvPr id="709" name="Google Shape;709;p36"/>
          <p:cNvSpPr txBox="1"/>
          <p:nvPr/>
        </p:nvSpPr>
        <p:spPr>
          <a:xfrm>
            <a:off x="6803175" y="2975450"/>
            <a:ext cx="386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0" name="Google Shape;710;p36"/>
          <p:cNvSpPr/>
          <p:nvPr/>
        </p:nvSpPr>
        <p:spPr>
          <a:xfrm>
            <a:off x="642838" y="1019828"/>
            <a:ext cx="1794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3</a:t>
            </a:r>
            <a:endParaRPr sz="600"/>
          </a:p>
        </p:txBody>
      </p:sp>
      <p:sp>
        <p:nvSpPr>
          <p:cNvPr id="711" name="Google Shape;711;p36"/>
          <p:cNvSpPr/>
          <p:nvPr/>
        </p:nvSpPr>
        <p:spPr>
          <a:xfrm>
            <a:off x="5634200" y="694098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11</a:t>
            </a:r>
            <a:endParaRPr sz="400"/>
          </a:p>
        </p:txBody>
      </p:sp>
      <p:sp>
        <p:nvSpPr>
          <p:cNvPr id="712" name="Google Shape;712;p36"/>
          <p:cNvSpPr/>
          <p:nvPr/>
        </p:nvSpPr>
        <p:spPr>
          <a:xfrm>
            <a:off x="7929162" y="1705048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12</a:t>
            </a:r>
            <a:endParaRPr sz="400"/>
          </a:p>
        </p:txBody>
      </p:sp>
      <p:sp>
        <p:nvSpPr>
          <p:cNvPr id="713" name="Google Shape;713;p36"/>
          <p:cNvSpPr/>
          <p:nvPr/>
        </p:nvSpPr>
        <p:spPr>
          <a:xfrm>
            <a:off x="8911387" y="1414236"/>
            <a:ext cx="271200" cy="18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   14</a:t>
            </a:r>
            <a:endParaRPr sz="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7"/>
          <p:cNvSpPr txBox="1"/>
          <p:nvPr>
            <p:ph type="title"/>
          </p:nvPr>
        </p:nvSpPr>
        <p:spPr>
          <a:xfrm>
            <a:off x="151350" y="176584"/>
            <a:ext cx="7886700" cy="55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User Guide</a:t>
            </a:r>
            <a:endParaRPr b="1" sz="1800"/>
          </a:p>
        </p:txBody>
      </p:sp>
      <p:sp>
        <p:nvSpPr>
          <p:cNvPr id="719" name="Google Shape;719;p37"/>
          <p:cNvSpPr txBox="1"/>
          <p:nvPr/>
        </p:nvSpPr>
        <p:spPr>
          <a:xfrm>
            <a:off x="943225" y="1151675"/>
            <a:ext cx="821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Link: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https://docs.google.com/document/d/13aHn3kwmMn2G-gFHdg0QetyjP2wbk6i3lwdx7ko-RCU/edit?tab=t.0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800" y="4809400"/>
            <a:ext cx="746201" cy="3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8"/>
          <p:cNvSpPr/>
          <p:nvPr/>
        </p:nvSpPr>
        <p:spPr>
          <a:xfrm>
            <a:off x="0" y="4835775"/>
            <a:ext cx="8397900" cy="30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Document# 	</a:t>
            </a:r>
            <a:r>
              <a:rPr lang="en"/>
              <a:t>											 </a:t>
            </a:r>
            <a:r>
              <a:rPr b="1" lang="en"/>
              <a:t> </a:t>
            </a:r>
            <a:r>
              <a:rPr b="1" lang="en">
                <a:solidFill>
                  <a:srgbClr val="FF5800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AiSemi Confidential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26" name="Google Shape;726;p38"/>
          <p:cNvSpPr txBox="1"/>
          <p:nvPr/>
        </p:nvSpPr>
        <p:spPr>
          <a:xfrm>
            <a:off x="5402179" y="6488668"/>
            <a:ext cx="61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 V-MODEL</a:t>
            </a:r>
            <a:endParaRPr/>
          </a:p>
        </p:txBody>
      </p:sp>
      <p:sp>
        <p:nvSpPr>
          <p:cNvPr id="727" name="Google Shape;727;p38"/>
          <p:cNvSpPr txBox="1"/>
          <p:nvPr/>
        </p:nvSpPr>
        <p:spPr>
          <a:xfrm>
            <a:off x="2510250" y="2004225"/>
            <a:ext cx="2428800" cy="36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